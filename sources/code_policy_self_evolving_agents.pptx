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1" r:id="rId3"/>
  </p:sldMasterIdLst>
  <p:notesMasterIdLst>
    <p:notesMasterId r:id="rId5"/>
  </p:notesMasterIdLst>
  <p:sldIdLst>
    <p:sldId id="256" r:id="rId4"/>
    <p:sldId id="260" r:id="rId6"/>
    <p:sldId id="261" r:id="rId7"/>
    <p:sldId id="273" r:id="rId8"/>
    <p:sldId id="274" r:id="rId9"/>
    <p:sldId id="275" r:id="rId10"/>
    <p:sldId id="276" r:id="rId11"/>
    <p:sldId id="258" r:id="rId12"/>
    <p:sldId id="259" r:id="rId13"/>
    <p:sldId id="262" r:id="rId14"/>
    <p:sldId id="263" r:id="rId15"/>
    <p:sldId id="277" r:id="rId16"/>
    <p:sldId id="278" r:id="rId17"/>
    <p:sldId id="264" r:id="rId18"/>
    <p:sldId id="280" r:id="rId19"/>
    <p:sldId id="284" r:id="rId20"/>
    <p:sldId id="279" r:id="rId21"/>
    <p:sldId id="285" r:id="rId22"/>
    <p:sldId id="283" r:id="rId23"/>
    <p:sldId id="282" r:id="rId24"/>
    <p:sldId id="281" r:id="rId25"/>
    <p:sldId id="265" r:id="rId26"/>
    <p:sldId id="272" r:id="rId27"/>
    <p:sldId id="266" r:id="rId28"/>
    <p:sldId id="271" r:id="rId29"/>
  </p:sldIdLst>
  <p:sldSz cx="12191365" cy="6858000"/>
  <p:notesSz cx="6858000" cy="12191365"/>
  <p:custDataLst>
    <p:tags r:id="rId33"/>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3C3C"/>
    <a:srgbClr val="2525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3" Type="http://schemas.openxmlformats.org/officeDocument/2006/relationships/tags" Target="tags/tag20.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arXiv:2209.07753, 2605.23904, 2603.22435, 2606.19980, 2607.00272.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SkillOpt treats skill as trainable external state; optimizer performs bounded edits and validation-gated updates; reports best or tied-best on all 52 evaluated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15/23 — Why bounded updates? Skill training is gradient descent in text space</a:t>
            </a:r>
          </a:p>
          <a:p>
            <a:r>
              <a:t>    Allotted 1:15   |   Cumulative 19:15 / 30:00</a:t>
            </a:r>
          </a:p>
          <a:p>
            <a:r>
              <a:t>──────────────────────────────────────────────────────────</a:t>
            </a:r>
          </a:p>
          <a:p>
            <a:r>
              <a:t>[中文 · 主讲稿]</a:t>
            </a:r>
          </a:p>
          <a:p>
            <a:r>
              <a:t>我想先给大家一个直觉图，再去拆具体的 pipeline。你把它当成一个 loss landscape 来看 —— 只不过纵轴不是 training loss，而是 validation error；横轴不是参数空间，而是 skill 文本的空间。我们从一个初始 skill 出发，目标是走到谷底那个更好的 skill。蓝色这条路就是 SkillOpt：每一步都是有边界的小编辑，每一步都过 held-out 的 selection gate，走不动了就把失败的编辑记进 buffer。它很稳，一步一步往下走。灰色这条虚线，是没有约束的 ad hoc rewrite，也就是现在很多 skill 自我改写的做法。它一次跳很大，语义乱跳，最后卡在一个次优的 skill 上下不来。右边这张对照表，其实就是整篇 SkillOpt 的灵魂：参数对应 skill 文档，梯度方向对应从轨迹里抽出来的编辑方向，learning rate 对应 edit budget，验证对应 held-out gate。所以这真的就是一次文本空间里的梯度下降。下一页，我把这条蓝色的路径拆开，看一个 step 到底怎么走。</a:t>
            </a:r>
          </a:p>
          <a:p>
            <a:r>
              <a:t>──────────────────────────────────────────────────────────</a:t>
            </a:r>
          </a:p>
          <a:p>
            <a:r>
              <a:t>[English · backup]</a:t>
            </a:r>
          </a:p>
          <a:p>
            <a:r>
              <a:t>Let me give you the intuition before the mechanics. Think of it as a loss landscape — except the vertical axis is validation error, not training loss, and the horizontal axis is the space of skill text, not parameters. We start at an initial skill and want to reach the better skill at the bottom. The blue path is SkillOpt: every step is a small bounded edit, every step passes a held-out selection gate, and when an edit fails it goes into the buffer. It's stable; it walks down step by step. The grey dashed path is unconstrained ad hoc rewriting — how most skill self-editing works today. It jumps far, lands semantically all over the place, and stalls at a sub-optimal skill. The table on the right is the soul of the paper: parameter maps to skill document, gradient direction to trajectory-derived edit direction, learning rate to edit budget, validation to the held-out gate. It really is gradient descent in text space. Next slide, I unfold that blue path into a single step.</a:t>
            </a:r>
          </a:p>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arXiv:2209.07753 submitted on 16 Sep 2022. Abstract states policy code can express functions or feedback loops that process perception outputs and parameterize control primitive APIs; presents robot-centric formulation of LMPs.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CaP-X introduces CaP-Gym and CaP-Bench; evaluates 12 models and studies abstraction/interaction/perceptual grounding; derives CaP-Agent0 and CaP-RL.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ASPIRE: Agentic Skill Programming through Iterative Robot Exploration; components include execution engine, skill library, evolutionary search; reports improvements on LIBERO-Pro, Robosuite, BEHAVIOR-1K.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ENPIRE modules: EN, PI, R, E; abstract reports coding agents autonomously train policies up to 99% success on dexterous manipulation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176" y="6356350"/>
            <a:ext cx="2133489" cy="365125"/>
          </a:xfrm>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a:xfrm>
            <a:off x="3124037" y="6356350"/>
            <a:ext cx="2895449" cy="365125"/>
          </a:xfrm>
        </p:spPr>
        <p:txBody>
          <a:bodyPr/>
          <a:lstStyle/>
          <a:p>
            <a:endParaRPr lang="en-US"/>
          </a:p>
        </p:txBody>
      </p:sp>
      <p:sp>
        <p:nvSpPr>
          <p:cNvPr id="4" name="Slide Number Placeholder 3"/>
          <p:cNvSpPr>
            <a:spLocks noGrp="1"/>
          </p:cNvSpPr>
          <p:nvPr>
            <p:ph type="sldNum" sz="quarter" idx="12"/>
          </p:nvPr>
        </p:nvSpPr>
        <p:spPr>
          <a:xfrm>
            <a:off x="6552859" y="6356350"/>
            <a:ext cx="2133489" cy="365125"/>
          </a:xfrm>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notesSlide" Target="../notesSlides/notesSlide1.xml"/><Relationship Id="rId20" Type="http://schemas.openxmlformats.org/officeDocument/2006/relationships/slideLayout" Target="../slideLayouts/slideLayout1.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 0"/>
          <p:cNvSpPr/>
          <p:nvPr/>
        </p:nvSpPr>
        <p:spPr>
          <a:xfrm>
            <a:off x="411480" y="237744"/>
            <a:ext cx="6858000" cy="256032"/>
          </a:xfrm>
          <a:prstGeom prst="rect">
            <a:avLst/>
          </a:prstGeom>
          <a:noFill/>
        </p:spPr>
        <p:txBody>
          <a:bodyPr wrap="square" lIns="0" tIns="0" rIns="0" bIns="0" rtlCol="0" anchor="ctr"/>
          <a:lstStyle/>
          <a:p>
            <a:pPr marL="0" indent="0">
              <a:buNone/>
            </a:pPr>
            <a:r>
              <a:rPr lang="en-US" sz="750" b="1" dirty="0">
                <a:solidFill>
                  <a:srgbClr val="E8EAED"/>
                </a:solidFill>
                <a:latin typeface="Times New Roman" panose="02020603050405020304" charset="0"/>
                <a:ea typeface="JetBrains Mono" pitchFamily="34" charset="-122"/>
                <a:cs typeface="Times New Roman" panose="02020603050405020304" charset="0"/>
              </a:rPr>
              <a:t>SELF-EVOLVING ROBOT AGENTS</a:t>
            </a:r>
            <a:endParaRPr lang="en-US" sz="750" b="1" dirty="0">
              <a:solidFill>
                <a:srgbClr val="E8EAED"/>
              </a:solidFill>
              <a:latin typeface="Times New Roman" panose="02020603050405020304" charset="0"/>
              <a:ea typeface="JetBrains Mono" pitchFamily="34" charset="-122"/>
              <a:cs typeface="Times New Roman" panose="02020603050405020304" charset="0"/>
            </a:endParaRPr>
          </a:p>
        </p:txBody>
      </p:sp>
      <p:sp>
        <p:nvSpPr>
          <p:cNvPr id="3" name="Text 1"/>
          <p:cNvSpPr/>
          <p:nvPr/>
        </p:nvSpPr>
        <p:spPr>
          <a:xfrm>
            <a:off x="10561320" y="237744"/>
            <a:ext cx="1188720" cy="256032"/>
          </a:xfrm>
          <a:prstGeom prst="rect">
            <a:avLst/>
          </a:prstGeom>
          <a:noFill/>
        </p:spPr>
        <p:txBody>
          <a:bodyPr wrap="square" lIns="0" tIns="0" rIns="0" bIns="0" rtlCol="0" anchor="ctr"/>
          <a:lstStyle/>
          <a:p>
            <a:pPr marL="0" indent="0" algn="r">
              <a:buNone/>
            </a:pPr>
            <a:r>
              <a:rPr lang="en-US" sz="750" b="1" dirty="0">
                <a:solidFill>
                  <a:srgbClr val="E8EAED"/>
                </a:solidFill>
                <a:latin typeface="Times New Roman" panose="02020603050405020304" charset="0"/>
                <a:ea typeface="JetBrains Mono" pitchFamily="34" charset="-122"/>
                <a:cs typeface="Times New Roman" panose="02020603050405020304" charset="0"/>
              </a:rPr>
              <a:t>01 / 16</a:t>
            </a:r>
            <a:endParaRPr lang="en-US" sz="750" b="1" dirty="0">
              <a:solidFill>
                <a:srgbClr val="E8EAED"/>
              </a:solidFill>
              <a:latin typeface="Times New Roman" panose="02020603050405020304" charset="0"/>
              <a:ea typeface="JetBrains Mono" pitchFamily="34" charset="-122"/>
              <a:cs typeface="Times New Roman" panose="02020603050405020304" charset="0"/>
            </a:endParaRPr>
          </a:p>
        </p:txBody>
      </p:sp>
      <p:sp>
        <p:nvSpPr>
          <p:cNvPr id="4" name="Shape 2"/>
          <p:cNvSpPr/>
          <p:nvPr/>
        </p:nvSpPr>
        <p:spPr>
          <a:xfrm>
            <a:off x="411480" y="6382512"/>
            <a:ext cx="11365992" cy="0"/>
          </a:xfrm>
          <a:prstGeom prst="line">
            <a:avLst/>
          </a:prstGeom>
          <a:noFill/>
          <a:ln w="6350">
            <a:solidFill>
              <a:srgbClr val="3A3A3A"/>
            </a:solidFill>
            <a:prstDash val="solid"/>
          </a:ln>
        </p:spPr>
      </p:sp>
      <p:sp>
        <p:nvSpPr>
          <p:cNvPr id="6" name="Text 4"/>
          <p:cNvSpPr/>
          <p:nvPr/>
        </p:nvSpPr>
        <p:spPr>
          <a:xfrm>
            <a:off x="566928" y="841248"/>
            <a:ext cx="7498080" cy="594360"/>
          </a:xfrm>
          <a:prstGeom prst="rect">
            <a:avLst/>
          </a:prstGeom>
          <a:noFill/>
        </p:spPr>
        <p:txBody>
          <a:bodyPr wrap="square" lIns="0" tIns="0" rIns="0" bIns="0" rtlCol="0" anchor="ctr"/>
          <a:lstStyle/>
          <a:p>
            <a:pPr marL="0" indent="0">
              <a:buNone/>
            </a:pPr>
            <a:r>
              <a:rPr lang="en-US" sz="1600" b="1" dirty="0">
                <a:solidFill>
                  <a:srgbClr val="B9C7FF"/>
                </a:solidFill>
                <a:latin typeface="Times New Roman" panose="02020603050405020304" charset="0"/>
                <a:ea typeface="JetBrains Mono" pitchFamily="34" charset="-122"/>
                <a:cs typeface="Times New Roman" panose="02020603050405020304" charset="0"/>
              </a:rPr>
              <a:t>Code-as-Policy</a:t>
            </a:r>
            <a:endParaRPr lang="en-US" sz="1600" b="1" dirty="0">
              <a:solidFill>
                <a:srgbClr val="B9C7FF"/>
              </a:solidFill>
              <a:latin typeface="Times New Roman" panose="02020603050405020304" charset="0"/>
              <a:ea typeface="JetBrains Mono" pitchFamily="34" charset="-122"/>
              <a:cs typeface="Times New Roman" panose="02020603050405020304" charset="0"/>
            </a:endParaRPr>
          </a:p>
        </p:txBody>
      </p:sp>
      <p:sp>
        <p:nvSpPr>
          <p:cNvPr id="7" name="Text 5"/>
          <p:cNvSpPr/>
          <p:nvPr/>
        </p:nvSpPr>
        <p:spPr>
          <a:xfrm>
            <a:off x="566928" y="1508760"/>
            <a:ext cx="10789920" cy="2103120"/>
          </a:xfrm>
          <a:prstGeom prst="rect">
            <a:avLst/>
          </a:prstGeom>
          <a:noFill/>
        </p:spPr>
        <p:txBody>
          <a:bodyPr wrap="square" lIns="0" tIns="0" rIns="0" bIns="0" rtlCol="0" anchor="ctr">
            <a:normAutofit/>
          </a:bodyPr>
          <a:lstStyle/>
          <a:p>
            <a:pPr marL="0" indent="0">
              <a:buNone/>
            </a:pPr>
            <a:r>
              <a:rPr lang="en-US" sz="4200" dirty="0">
                <a:solidFill>
                  <a:srgbClr val="FFFFFF"/>
                </a:solidFill>
                <a:latin typeface="Times New Roman" panose="02020603050405020304" charset="0"/>
                <a:ea typeface="Noto Sans CJK SC" pitchFamily="34" charset="-122"/>
                <a:cs typeface="Times New Roman" panose="02020603050405020304" charset="0"/>
              </a:rPr>
              <a:t>代码即策略</a:t>
            </a:r>
            <a:endParaRPr lang="en-US" sz="4200" dirty="0">
              <a:latin typeface="Times New Roman" panose="02020603050405020304" charset="0"/>
              <a:cs typeface="Times New Roman" panose="02020603050405020304" charset="0"/>
            </a:endParaRPr>
          </a:p>
          <a:p>
            <a:pPr marL="0" indent="0">
              <a:buNone/>
            </a:pPr>
            <a:r>
              <a:rPr lang="en-US" sz="4200" dirty="0">
                <a:solidFill>
                  <a:srgbClr val="FFFFFF"/>
                </a:solidFill>
                <a:latin typeface="Times New Roman" panose="02020603050405020304" charset="0"/>
                <a:ea typeface="Noto Sans CJK SC" pitchFamily="34" charset="-122"/>
                <a:cs typeface="Times New Roman" panose="02020603050405020304" charset="0"/>
              </a:rPr>
              <a:t>到自进化机器人 Agent</a:t>
            </a:r>
            <a:endParaRPr lang="en-US" sz="4200" dirty="0">
              <a:latin typeface="Times New Roman" panose="02020603050405020304" charset="0"/>
              <a:cs typeface="Times New Roman" panose="02020603050405020304" charset="0"/>
            </a:endParaRPr>
          </a:p>
        </p:txBody>
      </p:sp>
      <p:sp>
        <p:nvSpPr>
          <p:cNvPr id="8" name="Text 6"/>
          <p:cNvSpPr/>
          <p:nvPr/>
        </p:nvSpPr>
        <p:spPr>
          <a:xfrm>
            <a:off x="603504" y="3858768"/>
            <a:ext cx="8961120" cy="384048"/>
          </a:xfrm>
          <a:prstGeom prst="rect">
            <a:avLst/>
          </a:prstGeom>
          <a:noFill/>
        </p:spPr>
        <p:txBody>
          <a:bodyPr wrap="square" lIns="0" tIns="0" rIns="0" bIns="0" rtlCol="0" anchor="ctr"/>
          <a:lstStyle/>
          <a:p>
            <a:pPr marL="0" indent="0">
              <a:buNone/>
            </a:pPr>
            <a:r>
              <a:rPr lang="en-US" sz="1600" dirty="0">
                <a:solidFill>
                  <a:srgbClr val="D5DAE3"/>
                </a:solidFill>
                <a:latin typeface="Times New Roman" panose="02020603050405020304" charset="0"/>
                <a:ea typeface="Noto Sans CJK SC" pitchFamily="34" charset="-122"/>
                <a:cs typeface="Times New Roman" panose="02020603050405020304" charset="0"/>
              </a:rPr>
              <a:t>SkillOpt · Code as Policies · CaP-X · ASPIRE · ENPIRE</a:t>
            </a:r>
            <a:endParaRPr lang="en-US" sz="1600" dirty="0">
              <a:solidFill>
                <a:srgbClr val="D5DAE3"/>
              </a:solidFill>
              <a:latin typeface="Times New Roman" panose="02020603050405020304" charset="0"/>
              <a:ea typeface="Noto Sans CJK SC" pitchFamily="34" charset="-122"/>
              <a:cs typeface="Times New Roman" panose="02020603050405020304" charset="0"/>
            </a:endParaRPr>
          </a:p>
        </p:txBody>
      </p:sp>
      <p:sp>
        <p:nvSpPr>
          <p:cNvPr id="9" name="Shape 7"/>
          <p:cNvSpPr/>
          <p:nvPr>
            <p:custDataLst>
              <p:tags r:id="rId1"/>
            </p:custDataLst>
          </p:nvPr>
        </p:nvSpPr>
        <p:spPr>
          <a:xfrm>
            <a:off x="685800" y="4800600"/>
            <a:ext cx="1508760" cy="786384"/>
          </a:xfrm>
          <a:prstGeom prst="rect">
            <a:avLst/>
          </a:prstGeom>
          <a:solidFill>
            <a:srgbClr val="222222"/>
          </a:solidFill>
          <a:ln w="7620">
            <a:solidFill>
              <a:srgbClr val="3A3A3A"/>
            </a:solidFill>
            <a:prstDash val="solid"/>
          </a:ln>
        </p:spPr>
      </p:sp>
      <p:sp>
        <p:nvSpPr>
          <p:cNvPr id="10" name="Text 8"/>
          <p:cNvSpPr/>
          <p:nvPr>
            <p:custDataLst>
              <p:tags r:id="rId2"/>
            </p:custDataLst>
          </p:nvPr>
        </p:nvSpPr>
        <p:spPr>
          <a:xfrm>
            <a:off x="832104" y="4910328"/>
            <a:ext cx="1216152" cy="292608"/>
          </a:xfrm>
          <a:prstGeom prst="rect">
            <a:avLst/>
          </a:prstGeom>
          <a:noFill/>
        </p:spPr>
        <p:txBody>
          <a:bodyPr wrap="square" lIns="0" tIns="0" rIns="0" bIns="0" rtlCol="0" anchor="ctr">
            <a:normAutofit/>
          </a:bodyPr>
          <a:lstStyle/>
          <a:p>
            <a:pPr marL="0" indent="0">
              <a:buNone/>
            </a:pPr>
            <a:r>
              <a:rPr lang="en-US" sz="1200" b="1" dirty="0">
                <a:solidFill>
                  <a:srgbClr val="FFFFFF"/>
                </a:solidFill>
                <a:latin typeface="Times New Roman" panose="02020603050405020304" charset="0"/>
                <a:ea typeface="Noto Sans CJK SC" pitchFamily="34" charset="-122"/>
                <a:cs typeface="Times New Roman" panose="02020603050405020304" charset="0"/>
              </a:rPr>
              <a:t>skill.md</a:t>
            </a:r>
            <a:endParaRPr lang="en-US" sz="1200" b="1" dirty="0">
              <a:solidFill>
                <a:srgbClr val="FFFFFF"/>
              </a:solidFill>
              <a:latin typeface="Times New Roman" panose="02020603050405020304" charset="0"/>
              <a:ea typeface="Noto Sans CJK SC" pitchFamily="34" charset="-122"/>
              <a:cs typeface="Times New Roman" panose="02020603050405020304" charset="0"/>
            </a:endParaRPr>
          </a:p>
        </p:txBody>
      </p:sp>
      <p:sp>
        <p:nvSpPr>
          <p:cNvPr id="11" name="Text 9"/>
          <p:cNvSpPr/>
          <p:nvPr>
            <p:custDataLst>
              <p:tags r:id="rId3"/>
            </p:custDataLst>
          </p:nvPr>
        </p:nvSpPr>
        <p:spPr>
          <a:xfrm>
            <a:off x="832104" y="5294376"/>
            <a:ext cx="1216152" cy="201168"/>
          </a:xfrm>
          <a:prstGeom prst="rect">
            <a:avLst/>
          </a:prstGeom>
          <a:noFill/>
        </p:spPr>
        <p:txBody>
          <a:bodyPr wrap="square" lIns="0" tIns="0" rIns="0" bIns="0" rtlCol="0" anchor="ctr">
            <a:normAutofit/>
          </a:bodyPr>
          <a:lstStyle/>
          <a:p>
            <a:pPr marL="0" indent="0">
              <a:buNone/>
            </a:pPr>
            <a:r>
              <a:rPr lang="en-US" sz="820" dirty="0">
                <a:solidFill>
                  <a:srgbClr val="BFC5CD"/>
                </a:solidFill>
                <a:latin typeface="Times New Roman" panose="02020603050405020304" charset="0"/>
                <a:ea typeface="Noto Sans CJK SC" pitchFamily="34" charset="-122"/>
                <a:cs typeface="Noto Sans CJK SC" pitchFamily="34" charset="-120"/>
              </a:rPr>
              <a:t>外部可训练状态</a:t>
            </a:r>
            <a:endParaRPr lang="en-US" sz="820" dirty="0">
              <a:solidFill>
                <a:srgbClr val="BFC5CD"/>
              </a:solidFill>
              <a:latin typeface="Times New Roman" panose="02020603050405020304" charset="0"/>
              <a:ea typeface="Noto Sans CJK SC" pitchFamily="34" charset="-122"/>
              <a:cs typeface="Noto Sans CJK SC" pitchFamily="34" charset="-120"/>
            </a:endParaRPr>
          </a:p>
        </p:txBody>
      </p:sp>
      <p:sp>
        <p:nvSpPr>
          <p:cNvPr id="12" name="Shape 10"/>
          <p:cNvSpPr/>
          <p:nvPr>
            <p:custDataLst>
              <p:tags r:id="rId4"/>
            </p:custDataLst>
          </p:nvPr>
        </p:nvSpPr>
        <p:spPr>
          <a:xfrm>
            <a:off x="2258568" y="5193792"/>
            <a:ext cx="411480" cy="0"/>
          </a:xfrm>
          <a:prstGeom prst="line">
            <a:avLst/>
          </a:prstGeom>
          <a:noFill/>
          <a:ln w="12700">
            <a:solidFill>
              <a:srgbClr val="002FA7"/>
            </a:solidFill>
            <a:prstDash val="solid"/>
            <a:headEnd type="none"/>
            <a:tailEnd type="triangle"/>
          </a:ln>
        </p:spPr>
      </p:sp>
      <p:sp>
        <p:nvSpPr>
          <p:cNvPr id="13" name="Shape 11"/>
          <p:cNvSpPr/>
          <p:nvPr>
            <p:custDataLst>
              <p:tags r:id="rId5"/>
            </p:custDataLst>
          </p:nvPr>
        </p:nvSpPr>
        <p:spPr>
          <a:xfrm>
            <a:off x="2743200" y="4800600"/>
            <a:ext cx="1508760" cy="786384"/>
          </a:xfrm>
          <a:prstGeom prst="rect">
            <a:avLst/>
          </a:prstGeom>
          <a:solidFill>
            <a:srgbClr val="222222"/>
          </a:solidFill>
          <a:ln w="7620">
            <a:solidFill>
              <a:srgbClr val="3A3A3A"/>
            </a:solidFill>
            <a:prstDash val="solid"/>
          </a:ln>
        </p:spPr>
      </p:sp>
      <p:sp>
        <p:nvSpPr>
          <p:cNvPr id="14" name="Text 12"/>
          <p:cNvSpPr/>
          <p:nvPr>
            <p:custDataLst>
              <p:tags r:id="rId6"/>
            </p:custDataLst>
          </p:nvPr>
        </p:nvSpPr>
        <p:spPr>
          <a:xfrm>
            <a:off x="2889504" y="4910328"/>
            <a:ext cx="1216152" cy="292608"/>
          </a:xfrm>
          <a:prstGeom prst="rect">
            <a:avLst/>
          </a:prstGeom>
          <a:noFill/>
        </p:spPr>
        <p:txBody>
          <a:bodyPr wrap="square" lIns="0" tIns="0" rIns="0" bIns="0" rtlCol="0" anchor="ctr">
            <a:normAutofit/>
          </a:bodyPr>
          <a:lstStyle/>
          <a:p>
            <a:pPr marL="0" indent="0">
              <a:buNone/>
            </a:pPr>
            <a:r>
              <a:rPr lang="en-US" sz="1200" b="1" dirty="0">
                <a:solidFill>
                  <a:srgbClr val="FFFFFF"/>
                </a:solidFill>
                <a:latin typeface="Times New Roman" panose="02020603050405020304" charset="0"/>
                <a:ea typeface="Noto Sans CJK SC" pitchFamily="34" charset="-122"/>
                <a:cs typeface="Times New Roman" panose="02020603050405020304" charset="0"/>
              </a:rPr>
              <a:t>policy.py</a:t>
            </a:r>
            <a:endParaRPr lang="en-US" sz="1200" b="1" dirty="0">
              <a:solidFill>
                <a:srgbClr val="FFFFFF"/>
              </a:solidFill>
              <a:latin typeface="Times New Roman" panose="02020603050405020304" charset="0"/>
              <a:ea typeface="Noto Sans CJK SC" pitchFamily="34" charset="-122"/>
              <a:cs typeface="Times New Roman" panose="02020603050405020304" charset="0"/>
            </a:endParaRPr>
          </a:p>
        </p:txBody>
      </p:sp>
      <p:sp>
        <p:nvSpPr>
          <p:cNvPr id="15" name="Text 13"/>
          <p:cNvSpPr/>
          <p:nvPr>
            <p:custDataLst>
              <p:tags r:id="rId7"/>
            </p:custDataLst>
          </p:nvPr>
        </p:nvSpPr>
        <p:spPr>
          <a:xfrm>
            <a:off x="2889504" y="5294376"/>
            <a:ext cx="1216152" cy="201168"/>
          </a:xfrm>
          <a:prstGeom prst="rect">
            <a:avLst/>
          </a:prstGeom>
          <a:noFill/>
        </p:spPr>
        <p:txBody>
          <a:bodyPr wrap="square" lIns="0" tIns="0" rIns="0" bIns="0" rtlCol="0" anchor="ctr">
            <a:normAutofit/>
          </a:bodyPr>
          <a:lstStyle/>
          <a:p>
            <a:pPr marL="0" indent="0">
              <a:buNone/>
            </a:pPr>
            <a:r>
              <a:rPr lang="en-US" sz="820" dirty="0">
                <a:solidFill>
                  <a:srgbClr val="BFC5CD"/>
                </a:solidFill>
                <a:latin typeface="Times New Roman" panose="02020603050405020304" charset="0"/>
                <a:ea typeface="Noto Sans CJK SC" pitchFamily="34" charset="-122"/>
                <a:cs typeface="Noto Sans CJK SC" pitchFamily="34" charset="-120"/>
              </a:rPr>
              <a:t>程序化机器人策略</a:t>
            </a:r>
            <a:endParaRPr lang="en-US" sz="820" dirty="0">
              <a:solidFill>
                <a:srgbClr val="BFC5CD"/>
              </a:solidFill>
              <a:latin typeface="Times New Roman" panose="02020603050405020304" charset="0"/>
              <a:ea typeface="Noto Sans CJK SC" pitchFamily="34" charset="-122"/>
              <a:cs typeface="Noto Sans CJK SC" pitchFamily="34" charset="-120"/>
            </a:endParaRPr>
          </a:p>
        </p:txBody>
      </p:sp>
      <p:sp>
        <p:nvSpPr>
          <p:cNvPr id="16" name="Shape 14"/>
          <p:cNvSpPr/>
          <p:nvPr>
            <p:custDataLst>
              <p:tags r:id="rId8"/>
            </p:custDataLst>
          </p:nvPr>
        </p:nvSpPr>
        <p:spPr>
          <a:xfrm>
            <a:off x="4315968" y="5193792"/>
            <a:ext cx="411480" cy="0"/>
          </a:xfrm>
          <a:prstGeom prst="line">
            <a:avLst/>
          </a:prstGeom>
          <a:noFill/>
          <a:ln w="12700">
            <a:solidFill>
              <a:srgbClr val="002FA7"/>
            </a:solidFill>
            <a:prstDash val="solid"/>
            <a:headEnd type="none"/>
            <a:tailEnd type="triangle"/>
          </a:ln>
        </p:spPr>
      </p:sp>
      <p:sp>
        <p:nvSpPr>
          <p:cNvPr id="17" name="Shape 15"/>
          <p:cNvSpPr/>
          <p:nvPr>
            <p:custDataLst>
              <p:tags r:id="rId9"/>
            </p:custDataLst>
          </p:nvPr>
        </p:nvSpPr>
        <p:spPr>
          <a:xfrm>
            <a:off x="4800600" y="4800600"/>
            <a:ext cx="1508760" cy="786384"/>
          </a:xfrm>
          <a:prstGeom prst="rect">
            <a:avLst/>
          </a:prstGeom>
          <a:solidFill>
            <a:srgbClr val="252525"/>
          </a:solidFill>
          <a:ln w="7620">
            <a:solidFill>
              <a:srgbClr val="3C3C3C"/>
            </a:solidFill>
            <a:prstDash val="solid"/>
          </a:ln>
        </p:spPr>
      </p:sp>
      <p:sp>
        <p:nvSpPr>
          <p:cNvPr id="18" name="Text 16"/>
          <p:cNvSpPr/>
          <p:nvPr>
            <p:custDataLst>
              <p:tags r:id="rId10"/>
            </p:custDataLst>
          </p:nvPr>
        </p:nvSpPr>
        <p:spPr>
          <a:xfrm>
            <a:off x="4946904" y="4910328"/>
            <a:ext cx="1216152" cy="292608"/>
          </a:xfrm>
          <a:prstGeom prst="rect">
            <a:avLst/>
          </a:prstGeom>
          <a:noFill/>
        </p:spPr>
        <p:txBody>
          <a:bodyPr wrap="square" lIns="0" tIns="0" rIns="0" bIns="0" rtlCol="0" anchor="ctr">
            <a:normAutofit/>
          </a:bodyPr>
          <a:lstStyle/>
          <a:p>
            <a:pPr marL="0" indent="0">
              <a:buNone/>
            </a:pPr>
            <a:r>
              <a:rPr lang="en-US" sz="1200" b="1" dirty="0">
                <a:solidFill>
                  <a:srgbClr val="FFFFFF"/>
                </a:solidFill>
                <a:latin typeface="Times New Roman" panose="02020603050405020304" charset="0"/>
                <a:ea typeface="Noto Sans CJK SC" pitchFamily="34" charset="-122"/>
                <a:cs typeface="Times New Roman" panose="02020603050405020304" charset="0"/>
              </a:rPr>
              <a:t>CaP-Gym</a:t>
            </a:r>
            <a:endParaRPr lang="en-US" sz="1200" b="1" dirty="0">
              <a:solidFill>
                <a:srgbClr val="FFFFFF"/>
              </a:solidFill>
              <a:latin typeface="Times New Roman" panose="02020603050405020304" charset="0"/>
              <a:ea typeface="Noto Sans CJK SC" pitchFamily="34" charset="-122"/>
              <a:cs typeface="Times New Roman" panose="02020603050405020304" charset="0"/>
            </a:endParaRPr>
          </a:p>
        </p:txBody>
      </p:sp>
      <p:sp>
        <p:nvSpPr>
          <p:cNvPr id="19" name="Text 17"/>
          <p:cNvSpPr/>
          <p:nvPr>
            <p:custDataLst>
              <p:tags r:id="rId11"/>
            </p:custDataLst>
          </p:nvPr>
        </p:nvSpPr>
        <p:spPr>
          <a:xfrm>
            <a:off x="4946904" y="5294376"/>
            <a:ext cx="1216152" cy="201168"/>
          </a:xfrm>
          <a:prstGeom prst="rect">
            <a:avLst/>
          </a:prstGeom>
          <a:noFill/>
        </p:spPr>
        <p:txBody>
          <a:bodyPr wrap="square" lIns="0" tIns="0" rIns="0" bIns="0" rtlCol="0" anchor="ctr">
            <a:normAutofit/>
          </a:bodyPr>
          <a:lstStyle/>
          <a:p>
            <a:pPr marL="0" indent="0">
              <a:buNone/>
            </a:pPr>
            <a:r>
              <a:rPr lang="en-US" sz="820" dirty="0">
                <a:solidFill>
                  <a:srgbClr val="BFC5CD"/>
                </a:solidFill>
                <a:latin typeface="Times New Roman" panose="02020603050405020304" charset="0"/>
                <a:ea typeface="Noto Sans CJK SC" pitchFamily="34" charset="-122"/>
                <a:cs typeface="Noto Sans CJK SC" pitchFamily="34" charset="-120"/>
              </a:rPr>
              <a:t>可复现评测环境</a:t>
            </a:r>
            <a:endParaRPr lang="en-US" sz="820" dirty="0">
              <a:solidFill>
                <a:srgbClr val="BFC5CD"/>
              </a:solidFill>
              <a:latin typeface="Times New Roman" panose="02020603050405020304" charset="0"/>
              <a:ea typeface="Noto Sans CJK SC" pitchFamily="34" charset="-122"/>
              <a:cs typeface="Noto Sans CJK SC" pitchFamily="34" charset="-120"/>
            </a:endParaRPr>
          </a:p>
        </p:txBody>
      </p:sp>
      <p:sp>
        <p:nvSpPr>
          <p:cNvPr id="20" name="Shape 18"/>
          <p:cNvSpPr/>
          <p:nvPr>
            <p:custDataLst>
              <p:tags r:id="rId12"/>
            </p:custDataLst>
          </p:nvPr>
        </p:nvSpPr>
        <p:spPr>
          <a:xfrm>
            <a:off x="6373368" y="5193792"/>
            <a:ext cx="411480" cy="0"/>
          </a:xfrm>
          <a:prstGeom prst="line">
            <a:avLst/>
          </a:prstGeom>
          <a:noFill/>
          <a:ln w="12700">
            <a:solidFill>
              <a:srgbClr val="002FA7"/>
            </a:solidFill>
            <a:prstDash val="solid"/>
            <a:headEnd type="none"/>
            <a:tailEnd type="triangle"/>
          </a:ln>
        </p:spPr>
      </p:sp>
      <p:sp>
        <p:nvSpPr>
          <p:cNvPr id="21" name="Shape 19"/>
          <p:cNvSpPr/>
          <p:nvPr>
            <p:custDataLst>
              <p:tags r:id="rId13"/>
            </p:custDataLst>
          </p:nvPr>
        </p:nvSpPr>
        <p:spPr>
          <a:xfrm>
            <a:off x="6858000" y="4800600"/>
            <a:ext cx="1508760" cy="786384"/>
          </a:xfrm>
          <a:prstGeom prst="rect">
            <a:avLst/>
          </a:prstGeom>
          <a:solidFill>
            <a:srgbClr val="222222"/>
          </a:solidFill>
          <a:ln w="7620">
            <a:solidFill>
              <a:srgbClr val="3A3A3A"/>
            </a:solidFill>
            <a:prstDash val="solid"/>
          </a:ln>
        </p:spPr>
      </p:sp>
      <p:sp>
        <p:nvSpPr>
          <p:cNvPr id="22" name="Text 20"/>
          <p:cNvSpPr/>
          <p:nvPr>
            <p:custDataLst>
              <p:tags r:id="rId14"/>
            </p:custDataLst>
          </p:nvPr>
        </p:nvSpPr>
        <p:spPr>
          <a:xfrm>
            <a:off x="7004304" y="4910328"/>
            <a:ext cx="1216152" cy="292608"/>
          </a:xfrm>
          <a:prstGeom prst="rect">
            <a:avLst/>
          </a:prstGeom>
          <a:noFill/>
        </p:spPr>
        <p:txBody>
          <a:bodyPr wrap="square" lIns="0" tIns="0" rIns="0" bIns="0" rtlCol="0" anchor="ctr">
            <a:normAutofit/>
          </a:bodyPr>
          <a:lstStyle/>
          <a:p>
            <a:pPr marL="0" indent="0">
              <a:buNone/>
            </a:pPr>
            <a:r>
              <a:rPr lang="en-US" sz="1200" b="1" dirty="0">
                <a:solidFill>
                  <a:srgbClr val="FFFFFF"/>
                </a:solidFill>
                <a:latin typeface="Times New Roman" panose="02020603050405020304" charset="0"/>
                <a:ea typeface="Noto Sans CJK SC" pitchFamily="34" charset="-122"/>
                <a:cs typeface="Times New Roman" panose="02020603050405020304" charset="0"/>
              </a:rPr>
              <a:t>skill library</a:t>
            </a:r>
            <a:endParaRPr lang="en-US" sz="1200" b="1" dirty="0">
              <a:solidFill>
                <a:srgbClr val="FFFFFF"/>
              </a:solidFill>
              <a:latin typeface="Times New Roman" panose="02020603050405020304" charset="0"/>
              <a:ea typeface="Noto Sans CJK SC" pitchFamily="34" charset="-122"/>
              <a:cs typeface="Times New Roman" panose="02020603050405020304" charset="0"/>
            </a:endParaRPr>
          </a:p>
        </p:txBody>
      </p:sp>
      <p:sp>
        <p:nvSpPr>
          <p:cNvPr id="23" name="Text 21"/>
          <p:cNvSpPr/>
          <p:nvPr>
            <p:custDataLst>
              <p:tags r:id="rId15"/>
            </p:custDataLst>
          </p:nvPr>
        </p:nvSpPr>
        <p:spPr>
          <a:xfrm>
            <a:off x="7004304" y="5294376"/>
            <a:ext cx="1216152" cy="201168"/>
          </a:xfrm>
          <a:prstGeom prst="rect">
            <a:avLst/>
          </a:prstGeom>
          <a:noFill/>
        </p:spPr>
        <p:txBody>
          <a:bodyPr wrap="square" lIns="0" tIns="0" rIns="0" bIns="0" rtlCol="0" anchor="ctr">
            <a:normAutofit/>
          </a:bodyPr>
          <a:lstStyle/>
          <a:p>
            <a:pPr marL="0" indent="0">
              <a:buNone/>
            </a:pPr>
            <a:r>
              <a:rPr lang="en-US" sz="820" dirty="0">
                <a:solidFill>
                  <a:srgbClr val="BFC5CD"/>
                </a:solidFill>
                <a:latin typeface="Times New Roman" panose="02020603050405020304" charset="0"/>
                <a:ea typeface="Noto Sans CJK SC" pitchFamily="34" charset="-122"/>
                <a:cs typeface="Noto Sans CJK SC" pitchFamily="34" charset="-120"/>
              </a:rPr>
              <a:t>跨任务经验复用</a:t>
            </a:r>
            <a:endParaRPr lang="en-US" sz="820" dirty="0">
              <a:solidFill>
                <a:srgbClr val="BFC5CD"/>
              </a:solidFill>
              <a:latin typeface="Times New Roman" panose="02020603050405020304" charset="0"/>
              <a:ea typeface="Noto Sans CJK SC" pitchFamily="34" charset="-122"/>
              <a:cs typeface="Noto Sans CJK SC" pitchFamily="34" charset="-120"/>
            </a:endParaRPr>
          </a:p>
        </p:txBody>
      </p:sp>
      <p:sp>
        <p:nvSpPr>
          <p:cNvPr id="24" name="Shape 22"/>
          <p:cNvSpPr/>
          <p:nvPr>
            <p:custDataLst>
              <p:tags r:id="rId16"/>
            </p:custDataLst>
          </p:nvPr>
        </p:nvSpPr>
        <p:spPr>
          <a:xfrm>
            <a:off x="8430768" y="5193792"/>
            <a:ext cx="411480" cy="0"/>
          </a:xfrm>
          <a:prstGeom prst="line">
            <a:avLst/>
          </a:prstGeom>
          <a:noFill/>
          <a:ln w="12700">
            <a:solidFill>
              <a:srgbClr val="002FA7"/>
            </a:solidFill>
            <a:prstDash val="solid"/>
            <a:headEnd type="none"/>
            <a:tailEnd type="triangle"/>
          </a:ln>
        </p:spPr>
      </p:sp>
      <p:sp>
        <p:nvSpPr>
          <p:cNvPr id="25" name="Shape 23"/>
          <p:cNvSpPr/>
          <p:nvPr>
            <p:custDataLst>
              <p:tags r:id="rId17"/>
            </p:custDataLst>
          </p:nvPr>
        </p:nvSpPr>
        <p:spPr>
          <a:xfrm>
            <a:off x="8915400" y="4800600"/>
            <a:ext cx="1508760" cy="786384"/>
          </a:xfrm>
          <a:prstGeom prst="rect">
            <a:avLst/>
          </a:prstGeom>
          <a:solidFill>
            <a:srgbClr val="222222"/>
          </a:solidFill>
          <a:ln w="7620">
            <a:solidFill>
              <a:srgbClr val="3A3A3A"/>
            </a:solidFill>
            <a:prstDash val="solid"/>
          </a:ln>
        </p:spPr>
      </p:sp>
      <p:sp>
        <p:nvSpPr>
          <p:cNvPr id="26" name="Text 24"/>
          <p:cNvSpPr/>
          <p:nvPr>
            <p:custDataLst>
              <p:tags r:id="rId18"/>
            </p:custDataLst>
          </p:nvPr>
        </p:nvSpPr>
        <p:spPr>
          <a:xfrm>
            <a:off x="9061704" y="4910328"/>
            <a:ext cx="1216152" cy="292608"/>
          </a:xfrm>
          <a:prstGeom prst="rect">
            <a:avLst/>
          </a:prstGeom>
          <a:noFill/>
        </p:spPr>
        <p:txBody>
          <a:bodyPr wrap="square" lIns="0" tIns="0" rIns="0" bIns="0" rtlCol="0" anchor="ctr">
            <a:normAutofit/>
          </a:bodyPr>
          <a:lstStyle/>
          <a:p>
            <a:pPr marL="0" indent="0">
              <a:buNone/>
            </a:pPr>
            <a:r>
              <a:rPr lang="en-US" sz="1200" b="1" dirty="0">
                <a:solidFill>
                  <a:srgbClr val="FFFFFF"/>
                </a:solidFill>
                <a:latin typeface="Times New Roman" panose="02020603050405020304" charset="0"/>
                <a:ea typeface="Noto Sans CJK SC" pitchFamily="34" charset="-122"/>
                <a:cs typeface="Times New Roman" panose="02020603050405020304" charset="0"/>
              </a:rPr>
              <a:t>real robot</a:t>
            </a:r>
            <a:endParaRPr lang="en-US" sz="1200" b="1" dirty="0">
              <a:solidFill>
                <a:srgbClr val="FFFFFF"/>
              </a:solidFill>
              <a:latin typeface="Times New Roman" panose="02020603050405020304" charset="0"/>
              <a:ea typeface="Noto Sans CJK SC" pitchFamily="34" charset="-122"/>
              <a:cs typeface="Times New Roman" panose="02020603050405020304" charset="0"/>
            </a:endParaRPr>
          </a:p>
        </p:txBody>
      </p:sp>
      <p:sp>
        <p:nvSpPr>
          <p:cNvPr id="27" name="Text 25"/>
          <p:cNvSpPr/>
          <p:nvPr>
            <p:custDataLst>
              <p:tags r:id="rId19"/>
            </p:custDataLst>
          </p:nvPr>
        </p:nvSpPr>
        <p:spPr>
          <a:xfrm>
            <a:off x="9061704" y="5294376"/>
            <a:ext cx="1216152" cy="201168"/>
          </a:xfrm>
          <a:prstGeom prst="rect">
            <a:avLst/>
          </a:prstGeom>
          <a:noFill/>
        </p:spPr>
        <p:txBody>
          <a:bodyPr wrap="square" lIns="0" tIns="0" rIns="0" bIns="0" rtlCol="0" anchor="ctr">
            <a:normAutofit/>
          </a:bodyPr>
          <a:lstStyle/>
          <a:p>
            <a:pPr marL="0" indent="0">
              <a:buNone/>
            </a:pPr>
            <a:r>
              <a:rPr lang="en-US" sz="820" dirty="0">
                <a:solidFill>
                  <a:srgbClr val="BFC5CD"/>
                </a:solidFill>
                <a:latin typeface="Times New Roman" panose="02020603050405020304" charset="0"/>
                <a:ea typeface="Noto Sans CJK SC" pitchFamily="34" charset="-122"/>
                <a:cs typeface="Noto Sans CJK SC" pitchFamily="34" charset="-120"/>
              </a:rPr>
              <a:t>真实物理闭环</a:t>
            </a:r>
            <a:endParaRPr lang="en-US" sz="820" dirty="0">
              <a:solidFill>
                <a:srgbClr val="BFC5CD"/>
              </a:solidFill>
              <a:latin typeface="Times New Roman" panose="02020603050405020304" charset="0"/>
              <a:ea typeface="Noto Sans CJK SC" pitchFamily="34" charset="-122"/>
              <a:cs typeface="Noto Sans CJK SC" pitchFamily="34" charset="-120"/>
            </a:endParaRPr>
          </a:p>
        </p:txBody>
      </p:sp>
      <p:sp>
        <p:nvSpPr>
          <p:cNvPr id="28" name="Text 26"/>
          <p:cNvSpPr/>
          <p:nvPr/>
        </p:nvSpPr>
        <p:spPr>
          <a:xfrm>
            <a:off x="438912" y="6455664"/>
            <a:ext cx="10424160" cy="201168"/>
          </a:xfrm>
          <a:prstGeom prst="rect">
            <a:avLst/>
          </a:prstGeom>
          <a:noFill/>
        </p:spPr>
        <p:txBody>
          <a:bodyPr wrap="square" lIns="0" tIns="0" rIns="0" bIns="0" rtlCol="0" anchor="ctr"/>
          <a:lstStyle/>
          <a:p>
            <a:pPr marL="0" indent="0">
              <a:buNone/>
            </a:pPr>
            <a:r>
              <a:rPr lang="en-US" sz="670" dirty="0">
                <a:solidFill>
                  <a:srgbClr val="B9BDC3"/>
                </a:solidFill>
                <a:latin typeface="Times New Roman" panose="02020603050405020304" charset="0"/>
                <a:ea typeface="JetBrains Mono" pitchFamily="34" charset="-122"/>
                <a:cs typeface="Times New Roman" panose="02020603050405020304" charset="0"/>
              </a:rPr>
              <a:t>核心问题：LLM 不只回答机器人指令，而是写、运行、诊断、改进可执行机器人代码。</a:t>
            </a:r>
            <a:endParaRPr lang="en-US" sz="670" dirty="0">
              <a:solidFill>
                <a:srgbClr val="B9BDC3"/>
              </a:solidFill>
              <a:latin typeface="Times New Roman" panose="02020603050405020304" charset="0"/>
              <a:ea typeface="JetBrains Mono" pitchFamily="34" charset="-122"/>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ext 0"/>
          <p:cNvSpPr/>
          <p:nvPr/>
        </p:nvSpPr>
        <p:spPr>
          <a:xfrm>
            <a:off x="411480" y="237744"/>
            <a:ext cx="6858000" cy="256032"/>
          </a:xfrm>
          <a:prstGeom prst="rect">
            <a:avLst/>
          </a:prstGeom>
          <a:noFill/>
        </p:spPr>
        <p:txBody>
          <a:bodyPr wrap="square" lIns="0" tIns="0" rIns="0" bIns="0" rtlCol="0" anchor="ctr"/>
          <a:lstStyle/>
          <a:p>
            <a:pPr marL="0" indent="0">
              <a:buNone/>
            </a:pPr>
            <a:r>
              <a:rPr lang="en-US" sz="750" b="1" dirty="0">
                <a:solidFill>
                  <a:srgbClr val="6F767D"/>
                </a:solidFill>
                <a:latin typeface="Times New Roman" panose="02020603050405020304" charset="0"/>
                <a:ea typeface="JetBrains Mono" pitchFamily="34" charset="-122"/>
                <a:cs typeface="Times New Roman" panose="02020603050405020304" charset="0"/>
              </a:rPr>
              <a:t>SELF-EVOLVING AGENT</a:t>
            </a:r>
            <a:endParaRPr lang="en-US" sz="750" b="1"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5" name="Text 3"/>
          <p:cNvSpPr/>
          <p:nvPr/>
        </p:nvSpPr>
        <p:spPr>
          <a:xfrm>
            <a:off x="566928" y="673608"/>
            <a:ext cx="10881360" cy="548640"/>
          </a:xfrm>
          <a:prstGeom prst="rect">
            <a:avLst/>
          </a:prstGeom>
          <a:noFill/>
        </p:spPr>
        <p:txBody>
          <a:bodyPr wrap="square" lIns="0" tIns="0" rIns="0" bIns="0" rtlCol="0" anchor="ctr">
            <a:normAutofit/>
          </a:bodyPr>
          <a:lstStyle/>
          <a:p>
            <a:pPr marL="0" indent="0">
              <a:buNone/>
            </a:pPr>
            <a:r>
              <a:rPr lang="en-US" sz="3100" b="1" dirty="0">
                <a:solidFill>
                  <a:srgbClr val="0A0A0A"/>
                </a:solidFill>
                <a:latin typeface="Times New Roman" panose="02020603050405020304" charset="0"/>
                <a:ea typeface="Noto Sans CJK SC" pitchFamily="34" charset="-122"/>
                <a:cs typeface="Times New Roman" panose="02020603050405020304" charset="0"/>
              </a:rPr>
              <a:t>自进化 Agent </a:t>
            </a:r>
            <a:r>
              <a:rPr lang="zh-CN" altLang="en-US" sz="3100" b="1" dirty="0">
                <a:solidFill>
                  <a:srgbClr val="0A0A0A"/>
                </a:solidFill>
                <a:latin typeface="Times New Roman" panose="02020603050405020304" charset="0"/>
                <a:ea typeface="Noto Sans CJK SC" pitchFamily="34" charset="-122"/>
                <a:cs typeface="Times New Roman" panose="02020603050405020304" charset="0"/>
              </a:rPr>
              <a:t>以及</a:t>
            </a:r>
            <a:r>
              <a:rPr lang="en-US" altLang="zh-CN" sz="3100" b="1" dirty="0">
                <a:solidFill>
                  <a:srgbClr val="0A0A0A"/>
                </a:solidFill>
                <a:latin typeface="Times New Roman" panose="02020603050405020304" charset="0"/>
                <a:ea typeface="Noto Sans CJK SC" pitchFamily="34" charset="-122"/>
                <a:cs typeface="Times New Roman" panose="02020603050405020304" charset="0"/>
              </a:rPr>
              <a:t>Heuristic Learning</a:t>
            </a:r>
            <a:endParaRPr lang="en-US" altLang="zh-CN" sz="3100" b="1" dirty="0">
              <a:solidFill>
                <a:srgbClr val="0A0A0A"/>
              </a:solidFill>
              <a:latin typeface="Times New Roman" panose="02020603050405020304" charset="0"/>
              <a:ea typeface="Noto Sans CJK SC" pitchFamily="34" charset="-122"/>
              <a:cs typeface="Times New Roman" panose="02020603050405020304" charset="0"/>
            </a:endParaRPr>
          </a:p>
        </p:txBody>
      </p:sp>
      <p:pic>
        <p:nvPicPr>
          <p:cNvPr id="31" name="图片 30"/>
          <p:cNvPicPr>
            <a:picLocks noChangeAspect="1"/>
          </p:cNvPicPr>
          <p:nvPr/>
        </p:nvPicPr>
        <p:blipFill>
          <a:blip r:embed="rId1"/>
          <a:srcRect t="4970"/>
          <a:stretch>
            <a:fillRect/>
          </a:stretch>
        </p:blipFill>
        <p:spPr>
          <a:xfrm>
            <a:off x="795655" y="1389380"/>
            <a:ext cx="5299710" cy="4995545"/>
          </a:xfrm>
          <a:prstGeom prst="rect">
            <a:avLst/>
          </a:prstGeom>
        </p:spPr>
      </p:pic>
      <p:pic>
        <p:nvPicPr>
          <p:cNvPr id="32" name="图片 31"/>
          <p:cNvPicPr/>
          <p:nvPr/>
        </p:nvPicPr>
        <p:blipFill>
          <a:blip r:embed="rId2"/>
          <a:stretch>
            <a:fillRect/>
          </a:stretch>
        </p:blipFill>
        <p:spPr>
          <a:xfrm>
            <a:off x="6330315" y="2637790"/>
            <a:ext cx="4931410" cy="27400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11480" y="237744"/>
            <a:ext cx="6858000" cy="256032"/>
          </a:xfrm>
          <a:prstGeom prst="rect">
            <a:avLst/>
          </a:prstGeom>
          <a:noFill/>
        </p:spPr>
        <p:txBody>
          <a:bodyPr wrap="square" lIns="0" tIns="0" rIns="0" bIns="0" rtlCol="0" anchor="ctr"/>
          <a:lstStyle/>
          <a:p>
            <a:pPr marL="0" indent="0">
              <a:buNone/>
            </a:pPr>
            <a:r>
              <a:rPr lang="en-US" sz="750" b="1" dirty="0">
                <a:solidFill>
                  <a:srgbClr val="6F767D"/>
                </a:solidFill>
                <a:latin typeface="Times New Roman" panose="02020603050405020304" charset="0"/>
                <a:ea typeface="JetBrains Mono" pitchFamily="34" charset="-122"/>
                <a:cs typeface="Times New Roman" panose="02020603050405020304" charset="0"/>
              </a:rPr>
              <a:t>SKILLOPT</a:t>
            </a:r>
            <a:endParaRPr lang="en-US" sz="750" b="1"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4" name="Shape 2"/>
          <p:cNvSpPr/>
          <p:nvPr/>
        </p:nvSpPr>
        <p:spPr>
          <a:xfrm>
            <a:off x="411480" y="6382512"/>
            <a:ext cx="11365992" cy="0"/>
          </a:xfrm>
          <a:prstGeom prst="line">
            <a:avLst/>
          </a:prstGeom>
          <a:noFill/>
          <a:ln w="6350">
            <a:solidFill>
              <a:srgbClr val="D6D9DC"/>
            </a:solidFill>
            <a:prstDash val="solid"/>
          </a:ln>
        </p:spPr>
      </p:sp>
      <p:sp>
        <p:nvSpPr>
          <p:cNvPr id="5" name="Text 3"/>
          <p:cNvSpPr/>
          <p:nvPr/>
        </p:nvSpPr>
        <p:spPr>
          <a:xfrm>
            <a:off x="566928" y="749808"/>
            <a:ext cx="10881360" cy="548640"/>
          </a:xfrm>
          <a:prstGeom prst="rect">
            <a:avLst/>
          </a:prstGeom>
          <a:noFill/>
        </p:spPr>
        <p:txBody>
          <a:bodyPr wrap="square" lIns="0" tIns="0" rIns="0" bIns="0" rtlCol="0" anchor="ctr">
            <a:normAutofit/>
          </a:bodyPr>
          <a:lstStyle/>
          <a:p>
            <a:pPr marL="0" indent="0">
              <a:buNone/>
            </a:pPr>
            <a:r>
              <a:rPr lang="en-US" sz="3100" dirty="0">
                <a:solidFill>
                  <a:srgbClr val="0A0A0A"/>
                </a:solidFill>
                <a:latin typeface="Times New Roman" panose="02020603050405020304" charset="0"/>
                <a:ea typeface="Noto Sans CJK SC" pitchFamily="34" charset="-122"/>
                <a:cs typeface="Times New Roman" panose="02020603050405020304" charset="0"/>
              </a:rPr>
              <a:t>SkillOpt：</a:t>
            </a:r>
            <a:r>
              <a:rPr lang="zh-CN" altLang="en-US" sz="3100" dirty="0">
                <a:solidFill>
                  <a:srgbClr val="0A0A0A"/>
                </a:solidFill>
                <a:latin typeface="Times New Roman" panose="02020603050405020304" charset="0"/>
                <a:ea typeface="Noto Sans CJK SC" pitchFamily="34" charset="-122"/>
                <a:cs typeface="Times New Roman" panose="02020603050405020304" charset="0"/>
              </a:rPr>
              <a:t>在可控的文本空间训练</a:t>
            </a:r>
            <a:r>
              <a:rPr lang="en-US" sz="3100" dirty="0">
                <a:solidFill>
                  <a:srgbClr val="0A0A0A"/>
                </a:solidFill>
                <a:latin typeface="Times New Roman" panose="02020603050405020304" charset="0"/>
                <a:ea typeface="Noto Sans CJK SC" pitchFamily="34" charset="-122"/>
                <a:cs typeface="Times New Roman" panose="02020603050405020304" charset="0"/>
              </a:rPr>
              <a:t> skill.md</a:t>
            </a:r>
            <a:endParaRPr lang="en-US" sz="3100"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32" name="Text 30"/>
          <p:cNvSpPr/>
          <p:nvPr/>
        </p:nvSpPr>
        <p:spPr>
          <a:xfrm>
            <a:off x="438912" y="6455664"/>
            <a:ext cx="10424160" cy="201168"/>
          </a:xfrm>
          <a:prstGeom prst="rect">
            <a:avLst/>
          </a:prstGeom>
          <a:noFill/>
        </p:spPr>
        <p:txBody>
          <a:bodyPr wrap="square" lIns="0" tIns="0" rIns="0" bIns="0" rtlCol="0" anchor="ctr"/>
          <a:lstStyle/>
          <a:p>
            <a:pPr marL="0" indent="0">
              <a:buNone/>
            </a:pPr>
            <a:r>
              <a:rPr lang="en-US" sz="670" dirty="0">
                <a:solidFill>
                  <a:srgbClr val="6F767D"/>
                </a:solidFill>
                <a:latin typeface="Times New Roman" panose="02020603050405020304" charset="0"/>
                <a:ea typeface="JetBrains Mono" pitchFamily="34" charset="-122"/>
                <a:cs typeface="Times New Roman" panose="02020603050405020304" charset="0"/>
              </a:rPr>
              <a:t>Source: SkillOpt, arXiv:2605.23904.</a:t>
            </a:r>
            <a:endParaRPr lang="en-US" sz="670" dirty="0">
              <a:solidFill>
                <a:srgbClr val="6F767D"/>
              </a:solidFill>
              <a:latin typeface="Times New Roman" panose="02020603050405020304" charset="0"/>
              <a:ea typeface="JetBrains Mono" pitchFamily="34" charset="-122"/>
              <a:cs typeface="Times New Roman" panose="02020603050405020304" charset="0"/>
            </a:endParaRPr>
          </a:p>
        </p:txBody>
      </p:sp>
      <p:pic>
        <p:nvPicPr>
          <p:cNvPr id="33" name="Picture 1" descr="slide_15_teaser.png"/>
          <p:cNvPicPr>
            <a:picLocks noChangeAspect="1"/>
          </p:cNvPicPr>
          <p:nvPr/>
        </p:nvPicPr>
        <p:blipFill>
          <a:blip r:embed="rId1"/>
          <a:srcRect t="21178"/>
          <a:stretch>
            <a:fillRect/>
          </a:stretch>
        </p:blipFill>
        <p:spPr>
          <a:xfrm>
            <a:off x="0" y="1452245"/>
            <a:ext cx="12191365" cy="54051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 descr="slide_15_skillopt_pipeline.jpg"/>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lide_16_skillopt_knobs.jpg"/>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lide_17_skillopt_results.jpg"/>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656080" y="200660"/>
            <a:ext cx="8879840" cy="64566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ext 0"/>
          <p:cNvSpPr/>
          <p:nvPr/>
        </p:nvSpPr>
        <p:spPr>
          <a:xfrm>
            <a:off x="411480" y="237744"/>
            <a:ext cx="6858000" cy="256032"/>
          </a:xfrm>
          <a:prstGeom prst="rect">
            <a:avLst/>
          </a:prstGeom>
          <a:noFill/>
        </p:spPr>
        <p:txBody>
          <a:bodyPr wrap="square" lIns="0" tIns="0" rIns="0" bIns="0" rtlCol="0" anchor="ctr"/>
          <a:lstStyle/>
          <a:p>
            <a:pPr marL="0" indent="0">
              <a:buNone/>
            </a:pPr>
            <a:r>
              <a:rPr lang="en-US" sz="750" b="1" dirty="0">
                <a:solidFill>
                  <a:srgbClr val="6F767D"/>
                </a:solidFill>
                <a:latin typeface="Times New Roman" panose="02020603050405020304" charset="0"/>
                <a:ea typeface="JetBrains Mono" pitchFamily="34" charset="-122"/>
                <a:cs typeface="Times New Roman" panose="02020603050405020304" charset="0"/>
              </a:rPr>
              <a:t>CODE AS POLICIES · FIRST PAPER</a:t>
            </a:r>
            <a:endParaRPr lang="en-US" sz="750" b="1"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4" name="Shape 2"/>
          <p:cNvSpPr/>
          <p:nvPr/>
        </p:nvSpPr>
        <p:spPr>
          <a:xfrm>
            <a:off x="411480" y="6382512"/>
            <a:ext cx="11365992" cy="0"/>
          </a:xfrm>
          <a:prstGeom prst="line">
            <a:avLst/>
          </a:prstGeom>
          <a:noFill/>
          <a:ln w="6350">
            <a:solidFill>
              <a:srgbClr val="D6D9DC"/>
            </a:solidFill>
            <a:prstDash val="solid"/>
          </a:ln>
        </p:spPr>
      </p:sp>
      <p:sp>
        <p:nvSpPr>
          <p:cNvPr id="5" name="Text 3"/>
          <p:cNvSpPr/>
          <p:nvPr/>
        </p:nvSpPr>
        <p:spPr>
          <a:xfrm>
            <a:off x="566928" y="749808"/>
            <a:ext cx="10881360" cy="548640"/>
          </a:xfrm>
          <a:prstGeom prst="rect">
            <a:avLst/>
          </a:prstGeom>
          <a:noFill/>
        </p:spPr>
        <p:txBody>
          <a:bodyPr wrap="square" lIns="0" tIns="0" rIns="0" bIns="0" rtlCol="0" anchor="ctr">
            <a:normAutofit/>
          </a:bodyPr>
          <a:lstStyle/>
          <a:p>
            <a:pPr marL="0" indent="0">
              <a:buNone/>
            </a:pPr>
            <a:r>
              <a:rPr lang="en-US" sz="3100" dirty="0">
                <a:solidFill>
                  <a:srgbClr val="0A0A0A"/>
                </a:solidFill>
                <a:latin typeface="Times New Roman" panose="02020603050405020304" charset="0"/>
                <a:ea typeface="Noto Sans CJK SC" pitchFamily="34" charset="-122"/>
                <a:cs typeface="Times New Roman" panose="02020603050405020304" charset="0"/>
              </a:rPr>
              <a:t>Code as Policies：第一篇与定义</a:t>
            </a:r>
            <a:endParaRPr lang="en-US" sz="3100"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6" name="Text 4"/>
          <p:cNvSpPr/>
          <p:nvPr/>
        </p:nvSpPr>
        <p:spPr>
          <a:xfrm>
            <a:off x="585216" y="1444752"/>
            <a:ext cx="10332720" cy="292608"/>
          </a:xfrm>
          <a:prstGeom prst="rect">
            <a:avLst/>
          </a:prstGeom>
          <a:noFill/>
        </p:spPr>
        <p:txBody>
          <a:bodyPr wrap="square" lIns="0" tIns="0" rIns="0" bIns="0" rtlCol="0" anchor="ctr"/>
          <a:lstStyle/>
          <a:p>
            <a:pPr marL="0" indent="0">
              <a:buNone/>
            </a:pPr>
            <a:r>
              <a:rPr lang="en-US" sz="1200" dirty="0">
                <a:solidFill>
                  <a:srgbClr val="6F767D"/>
                </a:solidFill>
                <a:latin typeface="Times New Roman" panose="02020603050405020304" charset="0"/>
                <a:ea typeface="Noto Sans CJK SC" pitchFamily="34" charset="-122"/>
                <a:cs typeface="Times New Roman" panose="02020603050405020304" charset="0"/>
              </a:rPr>
              <a:t>第一篇以“Code as Policies”命名并系统提出该范式的是 2022 年的 Google Robotics 论文。</a:t>
            </a:r>
            <a:endParaRPr lang="en-US" sz="1200" dirty="0">
              <a:solidFill>
                <a:srgbClr val="6F767D"/>
              </a:solidFill>
              <a:latin typeface="Times New Roman" panose="02020603050405020304" charset="0"/>
              <a:ea typeface="Noto Sans CJK SC" pitchFamily="34" charset="-122"/>
              <a:cs typeface="Times New Roman" panose="02020603050405020304" charset="0"/>
            </a:endParaRPr>
          </a:p>
        </p:txBody>
      </p:sp>
      <p:sp>
        <p:nvSpPr>
          <p:cNvPr id="7" name="Text 5"/>
          <p:cNvSpPr/>
          <p:nvPr/>
        </p:nvSpPr>
        <p:spPr>
          <a:xfrm>
            <a:off x="658368" y="2057400"/>
            <a:ext cx="3657600" cy="548640"/>
          </a:xfrm>
          <a:prstGeom prst="rect">
            <a:avLst/>
          </a:prstGeom>
          <a:noFill/>
        </p:spPr>
        <p:txBody>
          <a:bodyPr wrap="square" lIns="0" tIns="0" rIns="0" bIns="0" rtlCol="0" anchor="ctr"/>
          <a:lstStyle/>
          <a:p>
            <a:pPr marL="0" indent="0">
              <a:buNone/>
            </a:pPr>
            <a:r>
              <a:rPr lang="en-US" sz="2400" b="1" dirty="0">
                <a:solidFill>
                  <a:srgbClr val="002FA7"/>
                </a:solidFill>
                <a:latin typeface="Times New Roman" panose="02020603050405020304" charset="0"/>
                <a:ea typeface="JetBrains Mono" pitchFamily="34" charset="-122"/>
                <a:cs typeface="Times New Roman" panose="02020603050405020304" charset="0"/>
              </a:rPr>
              <a:t>2022.09.16</a:t>
            </a:r>
            <a:endParaRPr lang="en-US" sz="2400" b="1" dirty="0">
              <a:solidFill>
                <a:srgbClr val="002FA7"/>
              </a:solidFill>
              <a:latin typeface="Times New Roman" panose="02020603050405020304" charset="0"/>
              <a:ea typeface="JetBrains Mono" pitchFamily="34" charset="-122"/>
              <a:cs typeface="Times New Roman" panose="02020603050405020304" charset="0"/>
            </a:endParaRPr>
          </a:p>
        </p:txBody>
      </p:sp>
      <p:sp>
        <p:nvSpPr>
          <p:cNvPr id="8" name="Text 6"/>
          <p:cNvSpPr/>
          <p:nvPr/>
        </p:nvSpPr>
        <p:spPr>
          <a:xfrm>
            <a:off x="658368" y="2615184"/>
            <a:ext cx="5303520" cy="731520"/>
          </a:xfrm>
          <a:prstGeom prst="rect">
            <a:avLst/>
          </a:prstGeom>
          <a:noFill/>
        </p:spPr>
        <p:txBody>
          <a:bodyPr wrap="square" lIns="0" tIns="0" rIns="0" bIns="0" rtlCol="0" anchor="ctr">
            <a:normAutofit/>
          </a:bodyPr>
          <a:lstStyle/>
          <a:p>
            <a:pPr marL="0" indent="0">
              <a:buNone/>
            </a:pPr>
            <a:r>
              <a:rPr lang="en-US" sz="2200" dirty="0">
                <a:solidFill>
                  <a:srgbClr val="0A0A0A"/>
                </a:solidFill>
                <a:latin typeface="Times New Roman" panose="02020603050405020304" charset="0"/>
                <a:ea typeface="Noto Sans CJK SC" pitchFamily="34" charset="-122"/>
                <a:cs typeface="Times New Roman" panose="02020603050405020304" charset="0"/>
              </a:rPr>
              <a:t>Code as Policies: Language Model Programs for Embodied Control</a:t>
            </a:r>
            <a:endParaRPr lang="en-US" sz="2200"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9" name="Text 7"/>
          <p:cNvSpPr/>
          <p:nvPr/>
        </p:nvSpPr>
        <p:spPr>
          <a:xfrm>
            <a:off x="658368" y="3730752"/>
            <a:ext cx="5394960" cy="1234440"/>
          </a:xfrm>
          <a:prstGeom prst="rect">
            <a:avLst/>
          </a:prstGeom>
          <a:noFill/>
        </p:spPr>
        <p:txBody>
          <a:bodyPr wrap="square" lIns="0" tIns="0" rIns="0" bIns="0" rtlCol="0" anchor="t">
            <a:normAutofit/>
          </a:bodyPr>
          <a:lstStyle/>
          <a:p>
            <a:pPr marL="0" indent="0">
              <a:buNone/>
            </a:pPr>
            <a:r>
              <a:rPr lang="en-US" sz="1550" b="1" dirty="0">
                <a:solidFill>
                  <a:srgbClr val="0A0A0A"/>
                </a:solidFill>
                <a:latin typeface="Times New Roman" panose="02020603050405020304" charset="0"/>
                <a:ea typeface="Noto Sans CJK SC" pitchFamily="34" charset="-122"/>
                <a:cs typeface="Times New Roman" panose="02020603050405020304" charset="0"/>
              </a:rPr>
              <a:t>定义：</a:t>
            </a:r>
            <a:r>
              <a:rPr lang="en-US" sz="1550" dirty="0">
                <a:solidFill>
                  <a:srgbClr val="0A0A0A"/>
                </a:solidFill>
                <a:latin typeface="Times New Roman" panose="02020603050405020304" charset="0"/>
                <a:ea typeface="Noto Sans CJK SC" pitchFamily="34" charset="-122"/>
                <a:cs typeface="Times New Roman" panose="02020603050405020304" charset="0"/>
              </a:rPr>
              <a:t>Code-as-Policy 是一种机器人中心的 Language Model Program 形式。</a:t>
            </a:r>
            <a:endParaRPr lang="en-US" sz="1550" dirty="0">
              <a:solidFill>
                <a:srgbClr val="0A0A0A"/>
              </a:solidFill>
              <a:latin typeface="Times New Roman" panose="02020603050405020304" charset="0"/>
              <a:ea typeface="Noto Sans CJK SC" pitchFamily="34" charset="-122"/>
              <a:cs typeface="Times New Roman" panose="02020603050405020304" charset="0"/>
            </a:endParaRPr>
          </a:p>
          <a:p>
            <a:pPr marL="0" indent="0">
              <a:buNone/>
            </a:pPr>
            <a:endParaRPr lang="en-US" sz="1550" dirty="0">
              <a:solidFill>
                <a:srgbClr val="0A0A0A"/>
              </a:solidFill>
              <a:latin typeface="Times New Roman" panose="02020603050405020304" charset="0"/>
              <a:ea typeface="Noto Sans CJK SC" pitchFamily="34" charset="-122"/>
              <a:cs typeface="Times New Roman" panose="02020603050405020304" charset="0"/>
            </a:endParaRPr>
          </a:p>
          <a:p>
            <a:pPr marL="0" indent="0">
              <a:buNone/>
            </a:pPr>
            <a:r>
              <a:rPr lang="en-US" sz="1550" dirty="0">
                <a:solidFill>
                  <a:srgbClr val="0A0A0A"/>
                </a:solidFill>
                <a:latin typeface="Times New Roman" panose="02020603050405020304" charset="0"/>
                <a:ea typeface="Noto Sans CJK SC" pitchFamily="34" charset="-122"/>
                <a:cs typeface="Times New Roman" panose="02020603050405020304" charset="0"/>
              </a:rPr>
              <a:t>LLM 生成可执行 policy code，该代码处理感知输出、调用控制 primitive/API，并可表达 reactive policy 或 waypoint-based policy。</a:t>
            </a:r>
            <a:endParaRPr lang="en-US" sz="1550"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22" name="Text 20"/>
          <p:cNvSpPr/>
          <p:nvPr/>
        </p:nvSpPr>
        <p:spPr>
          <a:xfrm>
            <a:off x="438912" y="6455664"/>
            <a:ext cx="10424160" cy="201168"/>
          </a:xfrm>
          <a:prstGeom prst="rect">
            <a:avLst/>
          </a:prstGeom>
          <a:noFill/>
        </p:spPr>
        <p:txBody>
          <a:bodyPr wrap="square" lIns="0" tIns="0" rIns="0" bIns="0" rtlCol="0" anchor="ctr"/>
          <a:lstStyle/>
          <a:p>
            <a:pPr marL="0" indent="0">
              <a:buNone/>
            </a:pPr>
            <a:r>
              <a:rPr lang="en-US" sz="670" dirty="0">
                <a:solidFill>
                  <a:srgbClr val="6F767D"/>
                </a:solidFill>
                <a:latin typeface="Times New Roman" panose="02020603050405020304" charset="0"/>
                <a:ea typeface="JetBrains Mono" pitchFamily="34" charset="-122"/>
                <a:cs typeface="Times New Roman" panose="02020603050405020304" charset="0"/>
              </a:rPr>
              <a:t>Source: Liang et al., arXiv:2209.07753.</a:t>
            </a:r>
            <a:endParaRPr lang="en-US" sz="670" dirty="0">
              <a:solidFill>
                <a:srgbClr val="6F767D"/>
              </a:solidFill>
              <a:latin typeface="Times New Roman" panose="02020603050405020304" charset="0"/>
              <a:ea typeface="JetBrains Mono" pitchFamily="34" charset="-122"/>
              <a:cs typeface="Times New Roman" panose="02020603050405020304" charset="0"/>
            </a:endParaRPr>
          </a:p>
        </p:txBody>
      </p:sp>
      <p:pic>
        <p:nvPicPr>
          <p:cNvPr id="24" name="图片 23"/>
          <p:cNvPicPr>
            <a:picLocks noChangeAspect="1"/>
          </p:cNvPicPr>
          <p:nvPr/>
        </p:nvPicPr>
        <p:blipFill>
          <a:blip r:embed="rId1"/>
          <a:stretch>
            <a:fillRect/>
          </a:stretch>
        </p:blipFill>
        <p:spPr>
          <a:xfrm>
            <a:off x="6614795" y="1163955"/>
            <a:ext cx="5076825" cy="41243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411480" y="237744"/>
            <a:ext cx="6858000" cy="256032"/>
          </a:xfrm>
          <a:prstGeom prst="rect">
            <a:avLst/>
          </a:prstGeom>
          <a:noFill/>
        </p:spPr>
        <p:txBody>
          <a:bodyPr wrap="square" lIns="0" tIns="0" rIns="0" bIns="0" rtlCol="0" anchor="ctr"/>
          <a:lstStyle/>
          <a:p>
            <a:pPr marL="0" indent="0">
              <a:buNone/>
            </a:pPr>
            <a:r>
              <a:rPr lang="en-US" sz="750" b="1" dirty="0">
                <a:solidFill>
                  <a:srgbClr val="6F767D"/>
                </a:solidFill>
                <a:latin typeface="Times New Roman" panose="02020603050405020304" charset="0"/>
                <a:ea typeface="JetBrains Mono" pitchFamily="34" charset="-122"/>
                <a:cs typeface="Times New Roman" panose="02020603050405020304" charset="0"/>
              </a:rPr>
              <a:t>CODE-AS-POLICY ABSTRACTION</a:t>
            </a:r>
            <a:endParaRPr lang="en-US" sz="750" b="1"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4" name="Shape 2"/>
          <p:cNvSpPr/>
          <p:nvPr/>
        </p:nvSpPr>
        <p:spPr>
          <a:xfrm>
            <a:off x="411480" y="6382512"/>
            <a:ext cx="11365992" cy="0"/>
          </a:xfrm>
          <a:prstGeom prst="line">
            <a:avLst/>
          </a:prstGeom>
          <a:noFill/>
          <a:ln w="6350">
            <a:solidFill>
              <a:srgbClr val="D6D9DC"/>
            </a:solidFill>
            <a:prstDash val="solid"/>
          </a:ln>
        </p:spPr>
      </p:sp>
      <p:sp>
        <p:nvSpPr>
          <p:cNvPr id="5" name="Text 3"/>
          <p:cNvSpPr/>
          <p:nvPr/>
        </p:nvSpPr>
        <p:spPr>
          <a:xfrm>
            <a:off x="566928" y="749808"/>
            <a:ext cx="10881360" cy="548640"/>
          </a:xfrm>
          <a:prstGeom prst="rect">
            <a:avLst/>
          </a:prstGeom>
          <a:noFill/>
        </p:spPr>
        <p:txBody>
          <a:bodyPr wrap="square" lIns="0" tIns="0" rIns="0" bIns="0" rtlCol="0" anchor="ctr">
            <a:normAutofit/>
          </a:bodyPr>
          <a:lstStyle/>
          <a:p>
            <a:pPr marL="0" indent="0">
              <a:buNone/>
            </a:pPr>
            <a:r>
              <a:rPr lang="en-US" sz="3100" dirty="0">
                <a:solidFill>
                  <a:srgbClr val="0A0A0A"/>
                </a:solidFill>
                <a:latin typeface="Times New Roman" panose="02020603050405020304" charset="0"/>
                <a:ea typeface="Noto Sans CJK SC" pitchFamily="34" charset="-122"/>
                <a:cs typeface="Times New Roman" panose="02020603050405020304" charset="0"/>
              </a:rPr>
              <a:t>CaP 的本质：把机器人行为压进“可执行中间表示”</a:t>
            </a:r>
            <a:endParaRPr lang="en-US" sz="3100"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6" name="Text 4"/>
          <p:cNvSpPr/>
          <p:nvPr/>
        </p:nvSpPr>
        <p:spPr>
          <a:xfrm>
            <a:off x="585216" y="1444752"/>
            <a:ext cx="10332720" cy="292608"/>
          </a:xfrm>
          <a:prstGeom prst="rect">
            <a:avLst/>
          </a:prstGeom>
          <a:noFill/>
        </p:spPr>
        <p:txBody>
          <a:bodyPr wrap="square" lIns="0" tIns="0" rIns="0" bIns="0" rtlCol="0" anchor="ctr"/>
          <a:lstStyle/>
          <a:p>
            <a:pPr marL="0" indent="0">
              <a:buNone/>
            </a:pPr>
            <a:r>
              <a:rPr lang="en-US" sz="1200" dirty="0">
                <a:solidFill>
                  <a:srgbClr val="6F767D"/>
                </a:solidFill>
                <a:latin typeface="Times New Roman" panose="02020603050405020304" charset="0"/>
                <a:ea typeface="Noto Sans CJK SC" pitchFamily="34" charset="-122"/>
                <a:cs typeface="Times New Roman" panose="02020603050405020304" charset="0"/>
              </a:rPr>
              <a:t>这让 LLM 获得组合性和空间几何推理，但也把能力强依赖于 API、环境反馈和程序安全边界。</a:t>
            </a:r>
            <a:endParaRPr lang="en-US" sz="1200" dirty="0">
              <a:solidFill>
                <a:srgbClr val="6F767D"/>
              </a:solidFill>
              <a:latin typeface="Times New Roman" panose="02020603050405020304" charset="0"/>
              <a:ea typeface="Noto Sans CJK SC" pitchFamily="34" charset="-122"/>
              <a:cs typeface="Times New Roman" panose="02020603050405020304" charset="0"/>
            </a:endParaRPr>
          </a:p>
        </p:txBody>
      </p:sp>
      <p:sp>
        <p:nvSpPr>
          <p:cNvPr id="7" name="Shape 5"/>
          <p:cNvSpPr/>
          <p:nvPr/>
        </p:nvSpPr>
        <p:spPr>
          <a:xfrm>
            <a:off x="914400" y="2084832"/>
            <a:ext cx="2148840" cy="713232"/>
          </a:xfrm>
          <a:prstGeom prst="rect">
            <a:avLst/>
          </a:prstGeom>
          <a:solidFill>
            <a:srgbClr val="F0F1F0"/>
          </a:solidFill>
          <a:ln w="7620">
            <a:solidFill>
              <a:srgbClr val="D6D9DC"/>
            </a:solidFill>
            <a:prstDash val="solid"/>
          </a:ln>
        </p:spPr>
      </p:sp>
      <p:sp>
        <p:nvSpPr>
          <p:cNvPr id="8" name="Text 6"/>
          <p:cNvSpPr/>
          <p:nvPr/>
        </p:nvSpPr>
        <p:spPr>
          <a:xfrm>
            <a:off x="1060704" y="2194560"/>
            <a:ext cx="1856232" cy="292608"/>
          </a:xfrm>
          <a:prstGeom prst="rect">
            <a:avLst/>
          </a:prstGeom>
          <a:noFill/>
        </p:spPr>
        <p:txBody>
          <a:bodyPr wrap="square" lIns="0" tIns="0" rIns="0" bIns="0" rtlCol="0" anchor="ctr">
            <a:normAutofit/>
          </a:bodyPr>
          <a:lstStyle/>
          <a:p>
            <a:pPr marL="0" indent="0">
              <a:buNone/>
            </a:pPr>
            <a:r>
              <a:rPr lang="en-US" sz="1300" b="1" dirty="0">
                <a:solidFill>
                  <a:srgbClr val="0A0A0A"/>
                </a:solidFill>
                <a:latin typeface="Times New Roman" panose="02020603050405020304" charset="0"/>
                <a:ea typeface="Noto Sans CJK SC" pitchFamily="34" charset="-122"/>
                <a:cs typeface="Noto Sans CJK SC" pitchFamily="34" charset="-120"/>
              </a:rPr>
              <a:t>自然语言任务</a:t>
            </a:r>
            <a:endParaRPr lang="en-US" sz="1300" b="1" dirty="0">
              <a:solidFill>
                <a:srgbClr val="0A0A0A"/>
              </a:solidFill>
              <a:latin typeface="Times New Roman" panose="02020603050405020304" charset="0"/>
              <a:ea typeface="Noto Sans CJK SC" pitchFamily="34" charset="-122"/>
              <a:cs typeface="Noto Sans CJK SC" pitchFamily="34" charset="-120"/>
            </a:endParaRPr>
          </a:p>
        </p:txBody>
      </p:sp>
      <p:sp>
        <p:nvSpPr>
          <p:cNvPr id="9" name="Text 7"/>
          <p:cNvSpPr/>
          <p:nvPr/>
        </p:nvSpPr>
        <p:spPr>
          <a:xfrm>
            <a:off x="1060704" y="2578608"/>
            <a:ext cx="1856232" cy="128016"/>
          </a:xfrm>
          <a:prstGeom prst="rect">
            <a:avLst/>
          </a:prstGeom>
          <a:noFill/>
        </p:spPr>
        <p:txBody>
          <a:bodyPr wrap="square" lIns="0" tIns="0" rIns="0" bIns="0" rtlCol="0" anchor="ctr">
            <a:normAutofit/>
          </a:bodyPr>
          <a:lstStyle/>
          <a:p>
            <a:pPr marL="0" indent="0">
              <a:buNone/>
            </a:pPr>
            <a:r>
              <a:rPr lang="en-US" sz="960" dirty="0">
                <a:solidFill>
                  <a:srgbClr val="6F767D"/>
                </a:solidFill>
                <a:latin typeface="Times New Roman" panose="02020603050405020304" charset="0"/>
                <a:ea typeface="Noto Sans CJK SC" pitchFamily="34" charset="-122"/>
                <a:cs typeface="Times New Roman" panose="02020603050405020304" charset="0"/>
              </a:rPr>
              <a:t>“把红色积木放到蓝碗左边”</a:t>
            </a:r>
            <a:endParaRPr lang="en-US" sz="960" dirty="0">
              <a:solidFill>
                <a:srgbClr val="6F767D"/>
              </a:solidFill>
              <a:latin typeface="Times New Roman" panose="02020603050405020304" charset="0"/>
              <a:ea typeface="Noto Sans CJK SC" pitchFamily="34" charset="-122"/>
              <a:cs typeface="Times New Roman" panose="02020603050405020304" charset="0"/>
            </a:endParaRPr>
          </a:p>
        </p:txBody>
      </p:sp>
      <p:sp>
        <p:nvSpPr>
          <p:cNvPr id="10" name="Shape 8"/>
          <p:cNvSpPr/>
          <p:nvPr/>
        </p:nvSpPr>
        <p:spPr>
          <a:xfrm>
            <a:off x="3520440" y="2084832"/>
            <a:ext cx="2148840" cy="713232"/>
          </a:xfrm>
          <a:prstGeom prst="rect">
            <a:avLst/>
          </a:prstGeom>
          <a:solidFill>
            <a:srgbClr val="002FA7"/>
          </a:solidFill>
          <a:ln w="7620">
            <a:solidFill>
              <a:srgbClr val="002FA7"/>
            </a:solidFill>
            <a:prstDash val="solid"/>
          </a:ln>
        </p:spPr>
      </p:sp>
      <p:sp>
        <p:nvSpPr>
          <p:cNvPr id="11" name="Text 9"/>
          <p:cNvSpPr/>
          <p:nvPr/>
        </p:nvSpPr>
        <p:spPr>
          <a:xfrm>
            <a:off x="3666744" y="2194560"/>
            <a:ext cx="1856232" cy="292608"/>
          </a:xfrm>
          <a:prstGeom prst="rect">
            <a:avLst/>
          </a:prstGeom>
          <a:noFill/>
        </p:spPr>
        <p:txBody>
          <a:bodyPr wrap="square" lIns="0" tIns="0" rIns="0" bIns="0" rtlCol="0" anchor="ctr">
            <a:normAutofit/>
          </a:bodyPr>
          <a:lstStyle/>
          <a:p>
            <a:pPr marL="0" indent="0">
              <a:buNone/>
            </a:pPr>
            <a:r>
              <a:rPr lang="en-US" sz="1300" b="1" dirty="0">
                <a:solidFill>
                  <a:srgbClr val="FFFFFF"/>
                </a:solidFill>
                <a:latin typeface="Times New Roman" panose="02020603050405020304" charset="0"/>
                <a:ea typeface="Noto Sans CJK SC" pitchFamily="34" charset="-122"/>
                <a:cs typeface="Times New Roman" panose="02020603050405020304" charset="0"/>
              </a:rPr>
              <a:t>LLM / VLM Agent</a:t>
            </a:r>
            <a:endParaRPr lang="en-US" sz="1300" b="1" dirty="0">
              <a:solidFill>
                <a:srgbClr val="FFFFFF"/>
              </a:solidFill>
              <a:latin typeface="Times New Roman" panose="02020603050405020304" charset="0"/>
              <a:ea typeface="Noto Sans CJK SC" pitchFamily="34" charset="-122"/>
              <a:cs typeface="Times New Roman" panose="02020603050405020304" charset="0"/>
            </a:endParaRPr>
          </a:p>
        </p:txBody>
      </p:sp>
      <p:sp>
        <p:nvSpPr>
          <p:cNvPr id="12" name="Text 10"/>
          <p:cNvSpPr/>
          <p:nvPr/>
        </p:nvSpPr>
        <p:spPr>
          <a:xfrm>
            <a:off x="3666744" y="2578608"/>
            <a:ext cx="1856232" cy="128016"/>
          </a:xfrm>
          <a:prstGeom prst="rect">
            <a:avLst/>
          </a:prstGeom>
          <a:noFill/>
        </p:spPr>
        <p:txBody>
          <a:bodyPr wrap="square" lIns="0" tIns="0" rIns="0" bIns="0" rtlCol="0" anchor="ctr">
            <a:normAutofit/>
          </a:bodyPr>
          <a:lstStyle/>
          <a:p>
            <a:pPr marL="0" indent="0">
              <a:buNone/>
            </a:pPr>
            <a:r>
              <a:rPr lang="en-US" sz="960" dirty="0">
                <a:solidFill>
                  <a:srgbClr val="E7EDFF"/>
                </a:solidFill>
                <a:latin typeface="Times New Roman" panose="02020603050405020304" charset="0"/>
                <a:ea typeface="Noto Sans CJK SC" pitchFamily="34" charset="-122"/>
                <a:cs typeface="Noto Sans CJK SC" pitchFamily="34" charset="-120"/>
              </a:rPr>
              <a:t>将任务转成程序结构与变量绑定</a:t>
            </a:r>
            <a:endParaRPr lang="en-US" sz="960" dirty="0">
              <a:solidFill>
                <a:srgbClr val="E7EDFF"/>
              </a:solidFill>
              <a:latin typeface="Times New Roman" panose="02020603050405020304" charset="0"/>
              <a:ea typeface="Noto Sans CJK SC" pitchFamily="34" charset="-122"/>
              <a:cs typeface="Noto Sans CJK SC" pitchFamily="34" charset="-120"/>
            </a:endParaRPr>
          </a:p>
        </p:txBody>
      </p:sp>
      <p:sp>
        <p:nvSpPr>
          <p:cNvPr id="13" name="Shape 11"/>
          <p:cNvSpPr/>
          <p:nvPr/>
        </p:nvSpPr>
        <p:spPr>
          <a:xfrm>
            <a:off x="6126480" y="2084832"/>
            <a:ext cx="2148840" cy="713232"/>
          </a:xfrm>
          <a:prstGeom prst="rect">
            <a:avLst/>
          </a:prstGeom>
          <a:solidFill>
            <a:srgbClr val="F0F1F0"/>
          </a:solidFill>
          <a:ln w="7620">
            <a:solidFill>
              <a:srgbClr val="D6D9DC"/>
            </a:solidFill>
            <a:prstDash val="solid"/>
          </a:ln>
        </p:spPr>
      </p:sp>
      <p:sp>
        <p:nvSpPr>
          <p:cNvPr id="14" name="Text 12"/>
          <p:cNvSpPr/>
          <p:nvPr/>
        </p:nvSpPr>
        <p:spPr>
          <a:xfrm>
            <a:off x="6272784" y="2194560"/>
            <a:ext cx="1856232" cy="292608"/>
          </a:xfrm>
          <a:prstGeom prst="rect">
            <a:avLst/>
          </a:prstGeom>
          <a:noFill/>
        </p:spPr>
        <p:txBody>
          <a:bodyPr wrap="square" lIns="0" tIns="0" rIns="0" bIns="0" rtlCol="0" anchor="ctr">
            <a:normAutofit/>
          </a:bodyPr>
          <a:lstStyle/>
          <a:p>
            <a:pPr marL="0" indent="0">
              <a:buNone/>
            </a:pPr>
            <a:r>
              <a:rPr lang="en-US" sz="1300" b="1" dirty="0">
                <a:solidFill>
                  <a:srgbClr val="0A0A0A"/>
                </a:solidFill>
                <a:latin typeface="Times New Roman" panose="02020603050405020304" charset="0"/>
                <a:ea typeface="Noto Sans CJK SC" pitchFamily="34" charset="-122"/>
                <a:cs typeface="Times New Roman" panose="02020603050405020304" charset="0"/>
              </a:rPr>
              <a:t>Policy Code</a:t>
            </a:r>
            <a:endParaRPr lang="en-US" sz="130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15" name="Text 13"/>
          <p:cNvSpPr/>
          <p:nvPr/>
        </p:nvSpPr>
        <p:spPr>
          <a:xfrm>
            <a:off x="6272784" y="2578608"/>
            <a:ext cx="1856232" cy="128016"/>
          </a:xfrm>
          <a:prstGeom prst="rect">
            <a:avLst/>
          </a:prstGeom>
          <a:noFill/>
        </p:spPr>
        <p:txBody>
          <a:bodyPr wrap="square" lIns="0" tIns="0" rIns="0" bIns="0" rtlCol="0" anchor="ctr">
            <a:normAutofit/>
          </a:bodyPr>
          <a:lstStyle/>
          <a:p>
            <a:pPr marL="0" indent="0">
              <a:buNone/>
            </a:pPr>
            <a:r>
              <a:rPr lang="en-US" sz="960" dirty="0">
                <a:solidFill>
                  <a:srgbClr val="6F767D"/>
                </a:solidFill>
                <a:latin typeface="Times New Roman" panose="02020603050405020304" charset="0"/>
                <a:ea typeface="Noto Sans CJK SC" pitchFamily="34" charset="-122"/>
                <a:cs typeface="Noto Sans CJK SC" pitchFamily="34" charset="-120"/>
              </a:rPr>
              <a:t>函数、循环、条件、几何运算</a:t>
            </a:r>
            <a:endParaRPr lang="en-US" sz="960" dirty="0">
              <a:solidFill>
                <a:srgbClr val="6F767D"/>
              </a:solidFill>
              <a:latin typeface="Times New Roman" panose="02020603050405020304" charset="0"/>
              <a:ea typeface="Noto Sans CJK SC" pitchFamily="34" charset="-122"/>
              <a:cs typeface="Noto Sans CJK SC" pitchFamily="34" charset="-120"/>
            </a:endParaRPr>
          </a:p>
        </p:txBody>
      </p:sp>
      <p:sp>
        <p:nvSpPr>
          <p:cNvPr id="16" name="Shape 14"/>
          <p:cNvSpPr/>
          <p:nvPr/>
        </p:nvSpPr>
        <p:spPr>
          <a:xfrm>
            <a:off x="8732520" y="2084832"/>
            <a:ext cx="2148840" cy="713232"/>
          </a:xfrm>
          <a:prstGeom prst="rect">
            <a:avLst/>
          </a:prstGeom>
          <a:solidFill>
            <a:srgbClr val="F0F1F0"/>
          </a:solidFill>
          <a:ln w="7620">
            <a:solidFill>
              <a:srgbClr val="D6D9DC"/>
            </a:solidFill>
            <a:prstDash val="solid"/>
          </a:ln>
        </p:spPr>
      </p:sp>
      <p:sp>
        <p:nvSpPr>
          <p:cNvPr id="17" name="Text 15"/>
          <p:cNvSpPr/>
          <p:nvPr/>
        </p:nvSpPr>
        <p:spPr>
          <a:xfrm>
            <a:off x="8878824" y="2194560"/>
            <a:ext cx="1856232" cy="292608"/>
          </a:xfrm>
          <a:prstGeom prst="rect">
            <a:avLst/>
          </a:prstGeom>
          <a:noFill/>
        </p:spPr>
        <p:txBody>
          <a:bodyPr wrap="square" lIns="0" tIns="0" rIns="0" bIns="0" rtlCol="0" anchor="ctr">
            <a:normAutofit/>
          </a:bodyPr>
          <a:lstStyle/>
          <a:p>
            <a:pPr marL="0" indent="0">
              <a:buNone/>
            </a:pPr>
            <a:r>
              <a:rPr lang="en-US" sz="1300" b="1" dirty="0">
                <a:solidFill>
                  <a:srgbClr val="0A0A0A"/>
                </a:solidFill>
                <a:latin typeface="Times New Roman" panose="02020603050405020304" charset="0"/>
                <a:ea typeface="Noto Sans CJK SC" pitchFamily="34" charset="-122"/>
                <a:cs typeface="Times New Roman" panose="02020603050405020304" charset="0"/>
              </a:rPr>
              <a:t>Robot APIs</a:t>
            </a:r>
            <a:endParaRPr lang="en-US" sz="130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18" name="Text 16"/>
          <p:cNvSpPr/>
          <p:nvPr/>
        </p:nvSpPr>
        <p:spPr>
          <a:xfrm>
            <a:off x="8878824" y="2578608"/>
            <a:ext cx="1856232" cy="128016"/>
          </a:xfrm>
          <a:prstGeom prst="rect">
            <a:avLst/>
          </a:prstGeom>
          <a:noFill/>
        </p:spPr>
        <p:txBody>
          <a:bodyPr wrap="square" lIns="0" tIns="0" rIns="0" bIns="0" rtlCol="0" anchor="ctr">
            <a:normAutofit/>
          </a:bodyPr>
          <a:lstStyle/>
          <a:p>
            <a:pPr marL="0" indent="0">
              <a:buNone/>
            </a:pPr>
            <a:r>
              <a:rPr lang="en-US" sz="960" dirty="0">
                <a:solidFill>
                  <a:srgbClr val="6F767D"/>
                </a:solidFill>
                <a:latin typeface="Times New Roman" panose="02020603050405020304" charset="0"/>
                <a:ea typeface="Noto Sans CJK SC" pitchFamily="34" charset="-122"/>
                <a:cs typeface="Times New Roman" panose="02020603050405020304" charset="0"/>
              </a:rPr>
              <a:t>感知 / 规划 / 控制 primitive</a:t>
            </a:r>
            <a:endParaRPr lang="en-US" sz="960" dirty="0">
              <a:solidFill>
                <a:srgbClr val="6F767D"/>
              </a:solidFill>
              <a:latin typeface="Times New Roman" panose="02020603050405020304" charset="0"/>
              <a:ea typeface="Noto Sans CJK SC" pitchFamily="34" charset="-122"/>
              <a:cs typeface="Times New Roman" panose="02020603050405020304" charset="0"/>
            </a:endParaRPr>
          </a:p>
        </p:txBody>
      </p:sp>
      <p:sp>
        <p:nvSpPr>
          <p:cNvPr id="19" name="Shape 17"/>
          <p:cNvSpPr/>
          <p:nvPr/>
        </p:nvSpPr>
        <p:spPr>
          <a:xfrm>
            <a:off x="3127248" y="2441448"/>
            <a:ext cx="329184" cy="0"/>
          </a:xfrm>
          <a:prstGeom prst="line">
            <a:avLst/>
          </a:prstGeom>
          <a:noFill/>
          <a:ln w="12700">
            <a:solidFill>
              <a:srgbClr val="002FA7"/>
            </a:solidFill>
            <a:prstDash val="solid"/>
            <a:headEnd type="none"/>
            <a:tailEnd type="triangle"/>
          </a:ln>
        </p:spPr>
      </p:sp>
      <p:sp>
        <p:nvSpPr>
          <p:cNvPr id="20" name="Shape 18"/>
          <p:cNvSpPr/>
          <p:nvPr/>
        </p:nvSpPr>
        <p:spPr>
          <a:xfrm>
            <a:off x="5733288" y="2441448"/>
            <a:ext cx="329184" cy="0"/>
          </a:xfrm>
          <a:prstGeom prst="line">
            <a:avLst/>
          </a:prstGeom>
          <a:noFill/>
          <a:ln w="12700">
            <a:solidFill>
              <a:srgbClr val="002FA7"/>
            </a:solidFill>
            <a:prstDash val="solid"/>
            <a:headEnd type="none"/>
            <a:tailEnd type="triangle"/>
          </a:ln>
        </p:spPr>
      </p:sp>
      <p:sp>
        <p:nvSpPr>
          <p:cNvPr id="21" name="Shape 19"/>
          <p:cNvSpPr/>
          <p:nvPr/>
        </p:nvSpPr>
        <p:spPr>
          <a:xfrm>
            <a:off x="8339328" y="2441448"/>
            <a:ext cx="329184" cy="0"/>
          </a:xfrm>
          <a:prstGeom prst="line">
            <a:avLst/>
          </a:prstGeom>
          <a:noFill/>
          <a:ln w="12700">
            <a:solidFill>
              <a:srgbClr val="002FA7"/>
            </a:solidFill>
            <a:prstDash val="solid"/>
            <a:headEnd type="none"/>
            <a:tailEnd type="triangle"/>
          </a:ln>
        </p:spPr>
      </p:sp>
      <p:sp>
        <p:nvSpPr>
          <p:cNvPr id="22" name="Shape 20"/>
          <p:cNvSpPr/>
          <p:nvPr/>
        </p:nvSpPr>
        <p:spPr>
          <a:xfrm>
            <a:off x="914400" y="3886200"/>
            <a:ext cx="2971800" cy="1143000"/>
          </a:xfrm>
          <a:prstGeom prst="rect">
            <a:avLst/>
          </a:prstGeom>
          <a:solidFill>
            <a:srgbClr val="F0F1F0"/>
          </a:solidFill>
          <a:ln w="7620">
            <a:solidFill>
              <a:srgbClr val="D6D9DC"/>
            </a:solidFill>
            <a:prstDash val="solid"/>
          </a:ln>
        </p:spPr>
      </p:sp>
      <p:sp>
        <p:nvSpPr>
          <p:cNvPr id="23" name="Text 21"/>
          <p:cNvSpPr/>
          <p:nvPr/>
        </p:nvSpPr>
        <p:spPr>
          <a:xfrm>
            <a:off x="1060704" y="3995928"/>
            <a:ext cx="2679192" cy="292608"/>
          </a:xfrm>
          <a:prstGeom prst="rect">
            <a:avLst/>
          </a:prstGeom>
          <a:noFill/>
        </p:spPr>
        <p:txBody>
          <a:bodyPr wrap="square" lIns="0" tIns="0" rIns="0" bIns="0" rtlCol="0" anchor="ctr">
            <a:normAutofit/>
          </a:bodyPr>
          <a:lstStyle/>
          <a:p>
            <a:pPr marL="0" indent="0">
              <a:buNone/>
            </a:pPr>
            <a:r>
              <a:rPr lang="en-US" sz="1500" b="1" dirty="0">
                <a:solidFill>
                  <a:srgbClr val="0A0A0A"/>
                </a:solidFill>
                <a:latin typeface="Times New Roman" panose="02020603050405020304" charset="0"/>
                <a:ea typeface="Noto Sans CJK SC" pitchFamily="34" charset="-122"/>
                <a:cs typeface="Noto Sans CJK SC" pitchFamily="34" charset="-120"/>
              </a:rPr>
              <a:t>优势</a:t>
            </a:r>
            <a:endParaRPr lang="en-US" sz="1500" b="1" dirty="0">
              <a:solidFill>
                <a:srgbClr val="0A0A0A"/>
              </a:solidFill>
              <a:latin typeface="Times New Roman" panose="02020603050405020304" charset="0"/>
              <a:ea typeface="Noto Sans CJK SC" pitchFamily="34" charset="-122"/>
              <a:cs typeface="Noto Sans CJK SC" pitchFamily="34" charset="-120"/>
            </a:endParaRPr>
          </a:p>
        </p:txBody>
      </p:sp>
      <p:sp>
        <p:nvSpPr>
          <p:cNvPr id="24" name="Text 22"/>
          <p:cNvSpPr/>
          <p:nvPr/>
        </p:nvSpPr>
        <p:spPr>
          <a:xfrm>
            <a:off x="1060704" y="4379976"/>
            <a:ext cx="2679192" cy="557784"/>
          </a:xfrm>
          <a:prstGeom prst="rect">
            <a:avLst/>
          </a:prstGeom>
          <a:noFill/>
        </p:spPr>
        <p:txBody>
          <a:bodyPr wrap="square" lIns="0" tIns="0" rIns="0" bIns="0" rtlCol="0" anchor="ctr">
            <a:normAutofit/>
          </a:bodyPr>
          <a:lstStyle/>
          <a:p>
            <a:pPr marL="0" indent="0">
              <a:buNone/>
            </a:pPr>
            <a:r>
              <a:rPr lang="en-US" sz="1100" dirty="0">
                <a:solidFill>
                  <a:srgbClr val="6F767D"/>
                </a:solidFill>
                <a:latin typeface="Times New Roman" panose="02020603050405020304" charset="0"/>
                <a:ea typeface="Noto Sans CJK SC" pitchFamily="34" charset="-122"/>
                <a:cs typeface="Times New Roman" panose="02020603050405020304" charset="0"/>
              </a:rPr>
              <a:t>可读、可执行、可调试；能调用第三方库；能组合 perception 和 control。</a:t>
            </a:r>
            <a:endParaRPr lang="en-US" sz="1100" dirty="0">
              <a:solidFill>
                <a:srgbClr val="6F767D"/>
              </a:solidFill>
              <a:latin typeface="Times New Roman" panose="02020603050405020304" charset="0"/>
              <a:ea typeface="Noto Sans CJK SC" pitchFamily="34" charset="-122"/>
              <a:cs typeface="Times New Roman" panose="02020603050405020304" charset="0"/>
            </a:endParaRPr>
          </a:p>
        </p:txBody>
      </p:sp>
      <p:sp>
        <p:nvSpPr>
          <p:cNvPr id="25" name="Shape 23"/>
          <p:cNvSpPr/>
          <p:nvPr/>
        </p:nvSpPr>
        <p:spPr>
          <a:xfrm>
            <a:off x="4572000" y="3886200"/>
            <a:ext cx="2971800" cy="1143000"/>
          </a:xfrm>
          <a:prstGeom prst="rect">
            <a:avLst/>
          </a:prstGeom>
          <a:solidFill>
            <a:srgbClr val="F0F1F0"/>
          </a:solidFill>
          <a:ln w="7620">
            <a:solidFill>
              <a:srgbClr val="D6D9DC"/>
            </a:solidFill>
            <a:prstDash val="solid"/>
          </a:ln>
        </p:spPr>
      </p:sp>
      <p:sp>
        <p:nvSpPr>
          <p:cNvPr id="26" name="Text 24"/>
          <p:cNvSpPr/>
          <p:nvPr/>
        </p:nvSpPr>
        <p:spPr>
          <a:xfrm>
            <a:off x="4718304" y="3995928"/>
            <a:ext cx="2679192" cy="292608"/>
          </a:xfrm>
          <a:prstGeom prst="rect">
            <a:avLst/>
          </a:prstGeom>
          <a:noFill/>
        </p:spPr>
        <p:txBody>
          <a:bodyPr wrap="square" lIns="0" tIns="0" rIns="0" bIns="0" rtlCol="0" anchor="ctr">
            <a:normAutofit/>
          </a:bodyPr>
          <a:lstStyle/>
          <a:p>
            <a:pPr marL="0" indent="0">
              <a:buNone/>
            </a:pPr>
            <a:r>
              <a:rPr lang="en-US" sz="1500" b="1" dirty="0">
                <a:solidFill>
                  <a:srgbClr val="0A0A0A"/>
                </a:solidFill>
                <a:latin typeface="Times New Roman" panose="02020603050405020304" charset="0"/>
                <a:ea typeface="Noto Sans CJK SC" pitchFamily="34" charset="-122"/>
                <a:cs typeface="Noto Sans CJK SC" pitchFamily="34" charset="-120"/>
              </a:rPr>
              <a:t>瓶颈</a:t>
            </a:r>
            <a:endParaRPr lang="en-US" sz="1500" b="1" dirty="0">
              <a:solidFill>
                <a:srgbClr val="0A0A0A"/>
              </a:solidFill>
              <a:latin typeface="Times New Roman" panose="02020603050405020304" charset="0"/>
              <a:ea typeface="Noto Sans CJK SC" pitchFamily="34" charset="-122"/>
              <a:cs typeface="Noto Sans CJK SC" pitchFamily="34" charset="-120"/>
            </a:endParaRPr>
          </a:p>
        </p:txBody>
      </p:sp>
      <p:sp>
        <p:nvSpPr>
          <p:cNvPr id="27" name="Text 25"/>
          <p:cNvSpPr/>
          <p:nvPr/>
        </p:nvSpPr>
        <p:spPr>
          <a:xfrm>
            <a:off x="4718304" y="4379976"/>
            <a:ext cx="2679192" cy="557784"/>
          </a:xfrm>
          <a:prstGeom prst="rect">
            <a:avLst/>
          </a:prstGeom>
          <a:noFill/>
        </p:spPr>
        <p:txBody>
          <a:bodyPr wrap="square" lIns="0" tIns="0" rIns="0" bIns="0" rtlCol="0" anchor="ctr">
            <a:normAutofit/>
          </a:bodyPr>
          <a:lstStyle/>
          <a:p>
            <a:pPr marL="0" indent="0">
              <a:buNone/>
            </a:pPr>
            <a:r>
              <a:rPr lang="en-US" sz="1100" dirty="0">
                <a:solidFill>
                  <a:srgbClr val="6F767D"/>
                </a:solidFill>
                <a:latin typeface="Times New Roman" panose="02020603050405020304" charset="0"/>
                <a:ea typeface="Noto Sans CJK SC" pitchFamily="34" charset="-122"/>
                <a:cs typeface="Times New Roman" panose="02020603050405020304" charset="0"/>
              </a:rPr>
              <a:t>没有执行反馈时容易幻觉；API 越低级越难；失败经验若不沉淀，下一次仍会犯。</a:t>
            </a:r>
            <a:endParaRPr lang="en-US" sz="1100" dirty="0">
              <a:solidFill>
                <a:srgbClr val="6F767D"/>
              </a:solidFill>
              <a:latin typeface="Times New Roman" panose="02020603050405020304" charset="0"/>
              <a:ea typeface="Noto Sans CJK SC" pitchFamily="34" charset="-122"/>
              <a:cs typeface="Times New Roman" panose="02020603050405020304" charset="0"/>
            </a:endParaRPr>
          </a:p>
        </p:txBody>
      </p:sp>
      <p:sp>
        <p:nvSpPr>
          <p:cNvPr id="28" name="Shape 26"/>
          <p:cNvSpPr/>
          <p:nvPr/>
        </p:nvSpPr>
        <p:spPr>
          <a:xfrm>
            <a:off x="8229600" y="3886200"/>
            <a:ext cx="2971800" cy="1143000"/>
          </a:xfrm>
          <a:prstGeom prst="rect">
            <a:avLst/>
          </a:prstGeom>
          <a:solidFill>
            <a:srgbClr val="002FA7"/>
          </a:solidFill>
          <a:ln w="7620">
            <a:solidFill>
              <a:srgbClr val="002FA7"/>
            </a:solidFill>
            <a:prstDash val="solid"/>
          </a:ln>
        </p:spPr>
      </p:sp>
      <p:sp>
        <p:nvSpPr>
          <p:cNvPr id="29" name="Text 27"/>
          <p:cNvSpPr/>
          <p:nvPr/>
        </p:nvSpPr>
        <p:spPr>
          <a:xfrm>
            <a:off x="8375904" y="3995928"/>
            <a:ext cx="2679192" cy="292608"/>
          </a:xfrm>
          <a:prstGeom prst="rect">
            <a:avLst/>
          </a:prstGeom>
          <a:noFill/>
        </p:spPr>
        <p:txBody>
          <a:bodyPr wrap="square" lIns="0" tIns="0" rIns="0" bIns="0" rtlCol="0" anchor="ctr">
            <a:normAutofit/>
          </a:bodyPr>
          <a:lstStyle/>
          <a:p>
            <a:pPr marL="0" indent="0">
              <a:buNone/>
            </a:pPr>
            <a:r>
              <a:rPr lang="en-US" sz="1500" b="1" dirty="0">
                <a:solidFill>
                  <a:srgbClr val="FFFFFF"/>
                </a:solidFill>
                <a:latin typeface="Times New Roman" panose="02020603050405020304" charset="0"/>
                <a:ea typeface="Noto Sans CJK SC" pitchFamily="34" charset="-122"/>
                <a:cs typeface="Noto Sans CJK SC" pitchFamily="34" charset="-120"/>
              </a:rPr>
              <a:t>演化方向</a:t>
            </a:r>
            <a:endParaRPr lang="en-US" sz="1500" b="1" dirty="0">
              <a:solidFill>
                <a:srgbClr val="FFFFFF"/>
              </a:solidFill>
              <a:latin typeface="Times New Roman" panose="02020603050405020304" charset="0"/>
              <a:ea typeface="Noto Sans CJK SC" pitchFamily="34" charset="-122"/>
              <a:cs typeface="Noto Sans CJK SC" pitchFamily="34" charset="-120"/>
            </a:endParaRPr>
          </a:p>
        </p:txBody>
      </p:sp>
      <p:sp>
        <p:nvSpPr>
          <p:cNvPr id="30" name="Text 28"/>
          <p:cNvSpPr/>
          <p:nvPr/>
        </p:nvSpPr>
        <p:spPr>
          <a:xfrm>
            <a:off x="8375904" y="4379976"/>
            <a:ext cx="2679192" cy="557784"/>
          </a:xfrm>
          <a:prstGeom prst="rect">
            <a:avLst/>
          </a:prstGeom>
          <a:noFill/>
        </p:spPr>
        <p:txBody>
          <a:bodyPr wrap="square" lIns="0" tIns="0" rIns="0" bIns="0" rtlCol="0" anchor="ctr">
            <a:normAutofit/>
          </a:bodyPr>
          <a:lstStyle/>
          <a:p>
            <a:pPr marL="0" indent="0">
              <a:buNone/>
            </a:pPr>
            <a:r>
              <a:rPr lang="en-US" sz="1100" dirty="0">
                <a:solidFill>
                  <a:srgbClr val="E7EDFF"/>
                </a:solidFill>
                <a:latin typeface="Times New Roman" panose="02020603050405020304" charset="0"/>
                <a:ea typeface="Noto Sans CJK SC" pitchFamily="34" charset="-122"/>
                <a:cs typeface="Times New Roman" panose="02020603050405020304" charset="0"/>
              </a:rPr>
              <a:t>从 one-shot codegen 走向 rollout-grounded repair、skill library、benchmark 和真实机器人闭环。</a:t>
            </a:r>
            <a:endParaRPr lang="en-US" sz="1100" dirty="0">
              <a:solidFill>
                <a:srgbClr val="E7EDFF"/>
              </a:solidFill>
              <a:latin typeface="Times New Roman" panose="02020603050405020304" charset="0"/>
              <a:ea typeface="Noto Sans CJK SC" pitchFamily="34" charset="-122"/>
              <a:cs typeface="Times New Roman" panose="02020603050405020304" charset="0"/>
            </a:endParaRPr>
          </a:p>
        </p:txBody>
      </p:sp>
      <p:sp>
        <p:nvSpPr>
          <p:cNvPr id="31" name="Text 29"/>
          <p:cNvSpPr/>
          <p:nvPr/>
        </p:nvSpPr>
        <p:spPr>
          <a:xfrm>
            <a:off x="438912" y="6455664"/>
            <a:ext cx="10424160" cy="201168"/>
          </a:xfrm>
          <a:prstGeom prst="rect">
            <a:avLst/>
          </a:prstGeom>
          <a:noFill/>
        </p:spPr>
        <p:txBody>
          <a:bodyPr wrap="square" lIns="0" tIns="0" rIns="0" bIns="0" rtlCol="0" anchor="ctr"/>
          <a:lstStyle/>
          <a:p>
            <a:pPr marL="0" indent="0">
              <a:buNone/>
            </a:pPr>
            <a:r>
              <a:rPr lang="en-US" sz="670" dirty="0">
                <a:solidFill>
                  <a:srgbClr val="6F767D"/>
                </a:solidFill>
                <a:latin typeface="Times New Roman" panose="02020603050405020304" charset="0"/>
                <a:ea typeface="JetBrains Mono" pitchFamily="34" charset="-122"/>
                <a:cs typeface="Times New Roman" panose="02020603050405020304" charset="0"/>
              </a:rPr>
              <a:t>讲 PPT 时，这页要把 CaP 和 VLA 分清楚：CaP 优化的是程序接口层，不是直接学习连续控制器。</a:t>
            </a:r>
            <a:endParaRPr lang="en-US" sz="670" dirty="0">
              <a:solidFill>
                <a:srgbClr val="6F767D"/>
              </a:solidFill>
              <a:latin typeface="Times New Roman" panose="02020603050405020304" charset="0"/>
              <a:ea typeface="JetBrains Mono" pitchFamily="34" charset="-122"/>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411480" y="237744"/>
            <a:ext cx="6858000" cy="256032"/>
          </a:xfrm>
          <a:prstGeom prst="rect">
            <a:avLst/>
          </a:prstGeom>
          <a:noFill/>
        </p:spPr>
        <p:txBody>
          <a:bodyPr wrap="square" lIns="0" tIns="0" rIns="0" bIns="0" rtlCol="0" anchor="ctr"/>
          <a:lstStyle/>
          <a:p>
            <a:pPr marL="0" indent="0">
              <a:buNone/>
            </a:pPr>
            <a:r>
              <a:rPr lang="en-US" sz="750" b="1" dirty="0">
                <a:solidFill>
                  <a:srgbClr val="6F767D"/>
                </a:solidFill>
                <a:latin typeface="Times New Roman" panose="02020603050405020304" charset="0"/>
                <a:ea typeface="JetBrains Mono" pitchFamily="34" charset="-122"/>
                <a:cs typeface="Times New Roman" panose="02020603050405020304" charset="0"/>
              </a:rPr>
              <a:t>CAP-X</a:t>
            </a:r>
            <a:endParaRPr lang="en-US" sz="750" b="1"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5" name="Text 3"/>
          <p:cNvSpPr/>
          <p:nvPr/>
        </p:nvSpPr>
        <p:spPr>
          <a:xfrm>
            <a:off x="566928" y="749808"/>
            <a:ext cx="10881360" cy="548640"/>
          </a:xfrm>
          <a:prstGeom prst="rect">
            <a:avLst/>
          </a:prstGeom>
          <a:noFill/>
        </p:spPr>
        <p:txBody>
          <a:bodyPr wrap="square" lIns="0" tIns="0" rIns="0" bIns="0" rtlCol="0" anchor="ctr">
            <a:normAutofit/>
          </a:bodyPr>
          <a:lstStyle/>
          <a:p>
            <a:pPr marL="0" indent="0">
              <a:buNone/>
            </a:pPr>
            <a:r>
              <a:rPr lang="en-US" sz="3100" dirty="0">
                <a:solidFill>
                  <a:srgbClr val="0A0A0A"/>
                </a:solidFill>
                <a:latin typeface="Times New Roman" panose="02020603050405020304" charset="0"/>
                <a:ea typeface="Noto Sans CJK SC" pitchFamily="34" charset="-122"/>
                <a:cs typeface="Times New Roman" panose="02020603050405020304" charset="0"/>
              </a:rPr>
              <a:t>CaP-X</a:t>
            </a:r>
            <a:r>
              <a:rPr lang="zh-CN" altLang="en-US" sz="3100" dirty="0">
                <a:solidFill>
                  <a:srgbClr val="0A0A0A"/>
                </a:solidFill>
                <a:latin typeface="Times New Roman" panose="02020603050405020304" charset="0"/>
                <a:ea typeface="Noto Sans CJK SC" pitchFamily="34" charset="-122"/>
                <a:cs typeface="Times New Roman" panose="02020603050405020304" charset="0"/>
              </a:rPr>
              <a:t>：</a:t>
            </a:r>
            <a:r>
              <a:rPr lang="en-US" altLang="zh-CN" sz="3100" dirty="0">
                <a:solidFill>
                  <a:srgbClr val="0A0A0A"/>
                </a:solidFill>
                <a:latin typeface="Times New Roman" panose="02020603050405020304" charset="0"/>
                <a:ea typeface="Noto Sans CJK SC" pitchFamily="34" charset="-122"/>
                <a:cs typeface="Times New Roman" panose="02020603050405020304" charset="0"/>
              </a:rPr>
              <a:t>Vibe Coding </a:t>
            </a:r>
            <a:r>
              <a:rPr lang="zh-CN" altLang="en-US" sz="3100" dirty="0">
                <a:solidFill>
                  <a:srgbClr val="0A0A0A"/>
                </a:solidFill>
                <a:latin typeface="Times New Roman" panose="02020603050405020304" charset="0"/>
                <a:ea typeface="Noto Sans CJK SC" pitchFamily="34" charset="-122"/>
                <a:cs typeface="Times New Roman" panose="02020603050405020304" charset="0"/>
              </a:rPr>
              <a:t>时代的第一个</a:t>
            </a:r>
            <a:r>
              <a:rPr lang="en-US" altLang="zh-CN" sz="3100" dirty="0">
                <a:solidFill>
                  <a:srgbClr val="0A0A0A"/>
                </a:solidFill>
                <a:latin typeface="Times New Roman" panose="02020603050405020304" charset="0"/>
                <a:ea typeface="Noto Sans CJK SC" pitchFamily="34" charset="-122"/>
                <a:cs typeface="Times New Roman" panose="02020603050405020304" charset="0"/>
              </a:rPr>
              <a:t>Code As Policy</a:t>
            </a:r>
            <a:r>
              <a:rPr lang="zh-CN" altLang="en-US" sz="3100" dirty="0">
                <a:solidFill>
                  <a:srgbClr val="0A0A0A"/>
                </a:solidFill>
                <a:latin typeface="Times New Roman" panose="02020603050405020304" charset="0"/>
                <a:ea typeface="Noto Sans CJK SC" pitchFamily="34" charset="-122"/>
                <a:cs typeface="Times New Roman" panose="02020603050405020304" charset="0"/>
              </a:rPr>
              <a:t>工作</a:t>
            </a:r>
            <a:endParaRPr lang="zh-CN" altLang="en-US" sz="3100"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6" name="Text 4"/>
          <p:cNvSpPr/>
          <p:nvPr/>
        </p:nvSpPr>
        <p:spPr>
          <a:xfrm>
            <a:off x="585216" y="1444752"/>
            <a:ext cx="10332720" cy="292608"/>
          </a:xfrm>
          <a:prstGeom prst="rect">
            <a:avLst/>
          </a:prstGeom>
          <a:noFill/>
        </p:spPr>
        <p:txBody>
          <a:bodyPr wrap="square" lIns="0" tIns="0" rIns="0" bIns="0" rtlCol="0" anchor="ctr"/>
          <a:lstStyle/>
          <a:p>
            <a:pPr marL="0" indent="0">
              <a:buNone/>
            </a:pPr>
            <a:r>
              <a:rPr lang="en-US" sz="1200" dirty="0">
                <a:solidFill>
                  <a:srgbClr val="6F767D"/>
                </a:solidFill>
                <a:latin typeface="Times New Roman" panose="02020603050405020304" charset="0"/>
                <a:ea typeface="Noto Sans CJK SC" pitchFamily="34" charset="-122"/>
                <a:cs typeface="Times New Roman" panose="02020603050405020304" charset="0"/>
              </a:rPr>
              <a:t>核心价值不是“又一个 agent”，而是把不同 abstraction、perception、interaction 条件系统化。</a:t>
            </a:r>
            <a:endParaRPr lang="en-US" sz="1200" dirty="0">
              <a:solidFill>
                <a:srgbClr val="6F767D"/>
              </a:solidFill>
              <a:latin typeface="Times New Roman" panose="02020603050405020304" charset="0"/>
              <a:ea typeface="Noto Sans CJK SC" pitchFamily="34" charset="-122"/>
              <a:cs typeface="Times New Roman" panose="02020603050405020304" charset="0"/>
            </a:endParaRPr>
          </a:p>
        </p:txBody>
      </p:sp>
      <p:sp>
        <p:nvSpPr>
          <p:cNvPr id="7" name="Shape 5"/>
          <p:cNvSpPr/>
          <p:nvPr/>
        </p:nvSpPr>
        <p:spPr>
          <a:xfrm>
            <a:off x="777240" y="1965960"/>
            <a:ext cx="2377440" cy="1005840"/>
          </a:xfrm>
          <a:prstGeom prst="rect">
            <a:avLst/>
          </a:prstGeom>
          <a:solidFill>
            <a:srgbClr val="002FA7"/>
          </a:solidFill>
          <a:ln w="7620">
            <a:solidFill>
              <a:srgbClr val="002FA7"/>
            </a:solidFill>
            <a:prstDash val="solid"/>
          </a:ln>
        </p:spPr>
      </p:sp>
      <p:sp>
        <p:nvSpPr>
          <p:cNvPr id="8" name="Text 6"/>
          <p:cNvSpPr/>
          <p:nvPr/>
        </p:nvSpPr>
        <p:spPr>
          <a:xfrm>
            <a:off x="923544" y="2075688"/>
            <a:ext cx="2084832" cy="292608"/>
          </a:xfrm>
          <a:prstGeom prst="rect">
            <a:avLst/>
          </a:prstGeom>
          <a:noFill/>
        </p:spPr>
        <p:txBody>
          <a:bodyPr wrap="square" lIns="0" tIns="0" rIns="0" bIns="0" rtlCol="0" anchor="ctr">
            <a:normAutofit/>
          </a:bodyPr>
          <a:lstStyle/>
          <a:p>
            <a:pPr marL="0" indent="0">
              <a:buNone/>
            </a:pPr>
            <a:r>
              <a:rPr lang="en-US" sz="1500" b="1" dirty="0">
                <a:solidFill>
                  <a:srgbClr val="FFFFFF"/>
                </a:solidFill>
                <a:latin typeface="Times New Roman" panose="02020603050405020304" charset="0"/>
                <a:ea typeface="Noto Sans CJK SC" pitchFamily="34" charset="-122"/>
                <a:cs typeface="Times New Roman" panose="02020603050405020304" charset="0"/>
              </a:rPr>
              <a:t>CaP-Gym</a:t>
            </a:r>
            <a:endParaRPr lang="en-US" sz="1500" b="1" dirty="0">
              <a:solidFill>
                <a:srgbClr val="FFFFFF"/>
              </a:solidFill>
              <a:latin typeface="Times New Roman" panose="02020603050405020304" charset="0"/>
              <a:ea typeface="Noto Sans CJK SC" pitchFamily="34" charset="-122"/>
              <a:cs typeface="Times New Roman" panose="02020603050405020304" charset="0"/>
            </a:endParaRPr>
          </a:p>
        </p:txBody>
      </p:sp>
      <p:sp>
        <p:nvSpPr>
          <p:cNvPr id="9" name="Text 7"/>
          <p:cNvSpPr/>
          <p:nvPr/>
        </p:nvSpPr>
        <p:spPr>
          <a:xfrm>
            <a:off x="923544" y="2459736"/>
            <a:ext cx="2084832" cy="420624"/>
          </a:xfrm>
          <a:prstGeom prst="rect">
            <a:avLst/>
          </a:prstGeom>
          <a:noFill/>
        </p:spPr>
        <p:txBody>
          <a:bodyPr wrap="square" lIns="0" tIns="0" rIns="0" bIns="0" rtlCol="0" anchor="ctr">
            <a:normAutofit/>
          </a:bodyPr>
          <a:lstStyle/>
          <a:p>
            <a:pPr marL="0" indent="0">
              <a:buNone/>
            </a:pPr>
            <a:r>
              <a:rPr lang="en-US" sz="1000" dirty="0">
                <a:solidFill>
                  <a:srgbClr val="E7EDFF"/>
                </a:solidFill>
                <a:latin typeface="Times New Roman" panose="02020603050405020304" charset="0"/>
                <a:ea typeface="Noto Sans CJK SC" pitchFamily="34" charset="-122"/>
                <a:cs typeface="Times New Roman" panose="02020603050405020304" charset="0"/>
              </a:rPr>
              <a:t>interactive environment：agent 写程序控制机器人</a:t>
            </a:r>
            <a:endParaRPr lang="en-US" sz="1000" dirty="0">
              <a:solidFill>
                <a:srgbClr val="E7EDFF"/>
              </a:solidFill>
              <a:latin typeface="Times New Roman" panose="02020603050405020304" charset="0"/>
              <a:ea typeface="Noto Sans CJK SC" pitchFamily="34" charset="-122"/>
              <a:cs typeface="Times New Roman" panose="02020603050405020304" charset="0"/>
            </a:endParaRPr>
          </a:p>
        </p:txBody>
      </p:sp>
      <p:sp>
        <p:nvSpPr>
          <p:cNvPr id="10" name="Shape 8"/>
          <p:cNvSpPr/>
          <p:nvPr/>
        </p:nvSpPr>
        <p:spPr>
          <a:xfrm>
            <a:off x="3611880" y="1965960"/>
            <a:ext cx="2377440" cy="1005840"/>
          </a:xfrm>
          <a:prstGeom prst="rect">
            <a:avLst/>
          </a:prstGeom>
          <a:solidFill>
            <a:srgbClr val="F0F1F0"/>
          </a:solidFill>
          <a:ln w="7620">
            <a:solidFill>
              <a:srgbClr val="D6D9DC"/>
            </a:solidFill>
            <a:prstDash val="solid"/>
          </a:ln>
        </p:spPr>
      </p:sp>
      <p:sp>
        <p:nvSpPr>
          <p:cNvPr id="11" name="Text 9"/>
          <p:cNvSpPr/>
          <p:nvPr/>
        </p:nvSpPr>
        <p:spPr>
          <a:xfrm>
            <a:off x="3758184" y="2075688"/>
            <a:ext cx="2084832" cy="292608"/>
          </a:xfrm>
          <a:prstGeom prst="rect">
            <a:avLst/>
          </a:prstGeom>
          <a:noFill/>
        </p:spPr>
        <p:txBody>
          <a:bodyPr wrap="square" lIns="0" tIns="0" rIns="0" bIns="0" rtlCol="0" anchor="ctr">
            <a:normAutofit/>
          </a:bodyPr>
          <a:lstStyle/>
          <a:p>
            <a:pPr marL="0" indent="0">
              <a:buNone/>
            </a:pPr>
            <a:r>
              <a:rPr lang="en-US" sz="1500" b="1" dirty="0">
                <a:solidFill>
                  <a:srgbClr val="0A0A0A"/>
                </a:solidFill>
                <a:latin typeface="Times New Roman" panose="02020603050405020304" charset="0"/>
                <a:ea typeface="Noto Sans CJK SC" pitchFamily="34" charset="-122"/>
                <a:cs typeface="Times New Roman" panose="02020603050405020304" charset="0"/>
              </a:rPr>
              <a:t>CaP-Bench</a:t>
            </a:r>
            <a:endParaRPr lang="en-US" sz="150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12" name="Text 10"/>
          <p:cNvSpPr/>
          <p:nvPr/>
        </p:nvSpPr>
        <p:spPr>
          <a:xfrm>
            <a:off x="3758184" y="2459736"/>
            <a:ext cx="2084832" cy="420624"/>
          </a:xfrm>
          <a:prstGeom prst="rect">
            <a:avLst/>
          </a:prstGeom>
          <a:noFill/>
        </p:spPr>
        <p:txBody>
          <a:bodyPr wrap="square" lIns="0" tIns="0" rIns="0" bIns="0" rtlCol="0" anchor="ctr">
            <a:normAutofit/>
          </a:bodyPr>
          <a:lstStyle/>
          <a:p>
            <a:pPr marL="0" indent="0">
              <a:buNone/>
            </a:pPr>
            <a:r>
              <a:rPr lang="en-US" sz="1000" dirty="0">
                <a:solidFill>
                  <a:srgbClr val="6F767D"/>
                </a:solidFill>
                <a:latin typeface="Times New Roman" panose="02020603050405020304" charset="0"/>
                <a:ea typeface="Noto Sans CJK SC" pitchFamily="34" charset="-122"/>
                <a:cs typeface="Noto Sans CJK SC" pitchFamily="34" charset="-120"/>
              </a:rPr>
              <a:t>跨模型、跨任务、跨抽象层评测</a:t>
            </a:r>
            <a:endParaRPr lang="en-US" sz="1000" dirty="0">
              <a:solidFill>
                <a:srgbClr val="6F767D"/>
              </a:solidFill>
              <a:latin typeface="Times New Roman" panose="02020603050405020304" charset="0"/>
              <a:ea typeface="Noto Sans CJK SC" pitchFamily="34" charset="-122"/>
              <a:cs typeface="Noto Sans CJK SC" pitchFamily="34" charset="-120"/>
            </a:endParaRPr>
          </a:p>
        </p:txBody>
      </p:sp>
      <p:sp>
        <p:nvSpPr>
          <p:cNvPr id="13" name="Shape 11"/>
          <p:cNvSpPr/>
          <p:nvPr/>
        </p:nvSpPr>
        <p:spPr>
          <a:xfrm>
            <a:off x="6446520" y="1965960"/>
            <a:ext cx="2377440" cy="1005840"/>
          </a:xfrm>
          <a:prstGeom prst="rect">
            <a:avLst/>
          </a:prstGeom>
          <a:solidFill>
            <a:srgbClr val="F0F1F0"/>
          </a:solidFill>
          <a:ln w="7620">
            <a:solidFill>
              <a:srgbClr val="D6D9DC"/>
            </a:solidFill>
            <a:prstDash val="solid"/>
          </a:ln>
        </p:spPr>
      </p:sp>
      <p:sp>
        <p:nvSpPr>
          <p:cNvPr id="14" name="Text 12"/>
          <p:cNvSpPr/>
          <p:nvPr/>
        </p:nvSpPr>
        <p:spPr>
          <a:xfrm>
            <a:off x="6592824" y="2075688"/>
            <a:ext cx="2084832" cy="292608"/>
          </a:xfrm>
          <a:prstGeom prst="rect">
            <a:avLst/>
          </a:prstGeom>
          <a:noFill/>
        </p:spPr>
        <p:txBody>
          <a:bodyPr wrap="square" lIns="0" tIns="0" rIns="0" bIns="0" rtlCol="0" anchor="ctr">
            <a:normAutofit/>
          </a:bodyPr>
          <a:lstStyle/>
          <a:p>
            <a:pPr marL="0" indent="0">
              <a:buNone/>
            </a:pPr>
            <a:r>
              <a:rPr lang="en-US" sz="1500" b="1" dirty="0">
                <a:solidFill>
                  <a:srgbClr val="0A0A0A"/>
                </a:solidFill>
                <a:latin typeface="Times New Roman" panose="02020603050405020304" charset="0"/>
                <a:ea typeface="Noto Sans CJK SC" pitchFamily="34" charset="-122"/>
                <a:cs typeface="Times New Roman" panose="02020603050405020304" charset="0"/>
              </a:rPr>
              <a:t>CaP-Agent0</a:t>
            </a:r>
            <a:endParaRPr lang="en-US" sz="150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15" name="Text 13"/>
          <p:cNvSpPr/>
          <p:nvPr/>
        </p:nvSpPr>
        <p:spPr>
          <a:xfrm>
            <a:off x="6592824" y="2459736"/>
            <a:ext cx="2084832" cy="420624"/>
          </a:xfrm>
          <a:prstGeom prst="rect">
            <a:avLst/>
          </a:prstGeom>
          <a:noFill/>
        </p:spPr>
        <p:txBody>
          <a:bodyPr wrap="square" lIns="0" tIns="0" rIns="0" bIns="0" rtlCol="0" anchor="ctr">
            <a:normAutofit/>
          </a:bodyPr>
          <a:lstStyle/>
          <a:p>
            <a:pPr marL="0" indent="0">
              <a:buNone/>
            </a:pPr>
            <a:r>
              <a:rPr lang="en-US" sz="1000" dirty="0">
                <a:solidFill>
                  <a:srgbClr val="6F767D"/>
                </a:solidFill>
                <a:latin typeface="Times New Roman" panose="02020603050405020304" charset="0"/>
                <a:ea typeface="Noto Sans CJK SC" pitchFamily="34" charset="-122"/>
                <a:cs typeface="Times New Roman" panose="02020603050405020304" charset="0"/>
              </a:rPr>
              <a:t>训练-free：多轮反馈、视觉差分、skill synthesis</a:t>
            </a:r>
            <a:endParaRPr lang="en-US" sz="1000" dirty="0">
              <a:solidFill>
                <a:srgbClr val="6F767D"/>
              </a:solidFill>
              <a:latin typeface="Times New Roman" panose="02020603050405020304" charset="0"/>
              <a:ea typeface="Noto Sans CJK SC" pitchFamily="34" charset="-122"/>
              <a:cs typeface="Times New Roman" panose="02020603050405020304" charset="0"/>
            </a:endParaRPr>
          </a:p>
        </p:txBody>
      </p:sp>
      <p:sp>
        <p:nvSpPr>
          <p:cNvPr id="16" name="Shape 14"/>
          <p:cNvSpPr/>
          <p:nvPr/>
        </p:nvSpPr>
        <p:spPr>
          <a:xfrm>
            <a:off x="9281160" y="1965960"/>
            <a:ext cx="2377440" cy="1005840"/>
          </a:xfrm>
          <a:prstGeom prst="rect">
            <a:avLst/>
          </a:prstGeom>
          <a:solidFill>
            <a:srgbClr val="F0F1F0"/>
          </a:solidFill>
          <a:ln w="7620">
            <a:solidFill>
              <a:srgbClr val="D6D9DC"/>
            </a:solidFill>
            <a:prstDash val="solid"/>
          </a:ln>
        </p:spPr>
      </p:sp>
      <p:sp>
        <p:nvSpPr>
          <p:cNvPr id="17" name="Text 15"/>
          <p:cNvSpPr/>
          <p:nvPr/>
        </p:nvSpPr>
        <p:spPr>
          <a:xfrm>
            <a:off x="9427464" y="2075688"/>
            <a:ext cx="2084832" cy="292608"/>
          </a:xfrm>
          <a:prstGeom prst="rect">
            <a:avLst/>
          </a:prstGeom>
          <a:noFill/>
        </p:spPr>
        <p:txBody>
          <a:bodyPr wrap="square" lIns="0" tIns="0" rIns="0" bIns="0" rtlCol="0" anchor="ctr">
            <a:normAutofit/>
          </a:bodyPr>
          <a:lstStyle/>
          <a:p>
            <a:pPr marL="0" indent="0">
              <a:buNone/>
            </a:pPr>
            <a:r>
              <a:rPr lang="en-US" sz="1500" b="1" dirty="0">
                <a:solidFill>
                  <a:srgbClr val="0A0A0A"/>
                </a:solidFill>
                <a:latin typeface="Times New Roman" panose="02020603050405020304" charset="0"/>
                <a:ea typeface="Noto Sans CJK SC" pitchFamily="34" charset="-122"/>
                <a:cs typeface="Times New Roman" panose="02020603050405020304" charset="0"/>
              </a:rPr>
              <a:t>CaP-RL</a:t>
            </a:r>
            <a:endParaRPr lang="en-US" sz="150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18" name="Text 16"/>
          <p:cNvSpPr/>
          <p:nvPr/>
        </p:nvSpPr>
        <p:spPr>
          <a:xfrm>
            <a:off x="9427464" y="2459736"/>
            <a:ext cx="2084832" cy="420624"/>
          </a:xfrm>
          <a:prstGeom prst="rect">
            <a:avLst/>
          </a:prstGeom>
          <a:noFill/>
        </p:spPr>
        <p:txBody>
          <a:bodyPr wrap="square" lIns="0" tIns="0" rIns="0" bIns="0" rtlCol="0" anchor="ctr">
            <a:normAutofit/>
          </a:bodyPr>
          <a:lstStyle/>
          <a:p>
            <a:pPr marL="0" indent="0">
              <a:buNone/>
            </a:pPr>
            <a:r>
              <a:rPr lang="en-US" sz="1000" dirty="0">
                <a:solidFill>
                  <a:srgbClr val="6F767D"/>
                </a:solidFill>
                <a:latin typeface="Times New Roman" panose="02020603050405020304" charset="0"/>
                <a:ea typeface="Noto Sans CJK SC" pitchFamily="34" charset="-122"/>
                <a:cs typeface="Times New Roman" panose="02020603050405020304" charset="0"/>
              </a:rPr>
              <a:t>可验证 reward + RL，提升 success 并 sim2real</a:t>
            </a:r>
            <a:endParaRPr lang="en-US" sz="1000" dirty="0">
              <a:solidFill>
                <a:srgbClr val="6F767D"/>
              </a:solidFill>
              <a:latin typeface="Times New Roman" panose="02020603050405020304" charset="0"/>
              <a:ea typeface="Noto Sans CJK SC" pitchFamily="34" charset="-122"/>
              <a:cs typeface="Times New Roman" panose="02020603050405020304" charset="0"/>
            </a:endParaRPr>
          </a:p>
        </p:txBody>
      </p:sp>
      <p:sp>
        <p:nvSpPr>
          <p:cNvPr id="19" name="Shape 17"/>
          <p:cNvSpPr/>
          <p:nvPr/>
        </p:nvSpPr>
        <p:spPr>
          <a:xfrm>
            <a:off x="3200400" y="2468880"/>
            <a:ext cx="347472" cy="0"/>
          </a:xfrm>
          <a:prstGeom prst="line">
            <a:avLst/>
          </a:prstGeom>
          <a:noFill/>
          <a:ln w="12700">
            <a:solidFill>
              <a:srgbClr val="002FA7"/>
            </a:solidFill>
            <a:prstDash val="solid"/>
            <a:headEnd type="none"/>
            <a:tailEnd type="triangle"/>
          </a:ln>
        </p:spPr>
      </p:sp>
      <p:sp>
        <p:nvSpPr>
          <p:cNvPr id="20" name="Shape 18"/>
          <p:cNvSpPr/>
          <p:nvPr/>
        </p:nvSpPr>
        <p:spPr>
          <a:xfrm>
            <a:off x="6035040" y="2468880"/>
            <a:ext cx="347472" cy="0"/>
          </a:xfrm>
          <a:prstGeom prst="line">
            <a:avLst/>
          </a:prstGeom>
          <a:noFill/>
          <a:ln w="12700">
            <a:solidFill>
              <a:srgbClr val="002FA7"/>
            </a:solidFill>
            <a:prstDash val="solid"/>
            <a:headEnd type="none"/>
            <a:tailEnd type="triangle"/>
          </a:ln>
        </p:spPr>
      </p:sp>
      <p:sp>
        <p:nvSpPr>
          <p:cNvPr id="21" name="Shape 19"/>
          <p:cNvSpPr/>
          <p:nvPr/>
        </p:nvSpPr>
        <p:spPr>
          <a:xfrm>
            <a:off x="8869680" y="2468880"/>
            <a:ext cx="347472" cy="0"/>
          </a:xfrm>
          <a:prstGeom prst="line">
            <a:avLst/>
          </a:prstGeom>
          <a:noFill/>
          <a:ln w="12700">
            <a:solidFill>
              <a:srgbClr val="002FA7"/>
            </a:solidFill>
            <a:prstDash val="solid"/>
            <a:headEnd type="none"/>
            <a:tailEnd type="triangle"/>
          </a:ln>
        </p:spPr>
      </p:sp>
      <p:sp>
        <p:nvSpPr>
          <p:cNvPr id="22" name="Text 20"/>
          <p:cNvSpPr/>
          <p:nvPr/>
        </p:nvSpPr>
        <p:spPr>
          <a:xfrm>
            <a:off x="524510" y="6153785"/>
            <a:ext cx="11367770" cy="704215"/>
          </a:xfrm>
          <a:prstGeom prst="rect">
            <a:avLst/>
          </a:prstGeom>
          <a:noFill/>
        </p:spPr>
        <p:txBody>
          <a:bodyPr wrap="square" lIns="0" tIns="0" rIns="0" bIns="0" rtlCol="0" anchor="t">
            <a:normAutofit/>
          </a:bodyPr>
          <a:lstStyle/>
          <a:p>
            <a:pPr marL="0" indent="0">
              <a:buNone/>
            </a:pPr>
            <a:r>
              <a:rPr lang="en-US" sz="1600" dirty="0">
                <a:solidFill>
                  <a:srgbClr val="0A0A0A"/>
                </a:solidFill>
                <a:latin typeface="Times New Roman" panose="02020603050405020304" charset="0"/>
                <a:ea typeface="Noto Sans CJK SC" pitchFamily="34" charset="-122"/>
                <a:cs typeface="Times New Roman" panose="02020603050405020304" charset="0"/>
              </a:rPr>
              <a:t>CaP-X 证明了一个重要现象：当人为抽象减少、API 更低级、perception 更不完美时，CaP agent 的性能会明显下降；但 test-time compute 和结构化执行反馈可以缓解这个 gap。</a:t>
            </a:r>
            <a:endParaRPr lang="en-US" sz="1600" dirty="0">
              <a:solidFill>
                <a:srgbClr val="0A0A0A"/>
              </a:solidFill>
              <a:latin typeface="Times New Roman" panose="02020603050405020304" charset="0"/>
              <a:ea typeface="Noto Sans CJK SC" pitchFamily="34" charset="-122"/>
              <a:cs typeface="Times New Roman" panose="02020603050405020304" charset="0"/>
            </a:endParaRPr>
          </a:p>
        </p:txBody>
      </p:sp>
      <p:pic>
        <p:nvPicPr>
          <p:cNvPr id="26" name="图片 25"/>
          <p:cNvPicPr>
            <a:picLocks noChangeAspect="1"/>
          </p:cNvPicPr>
          <p:nvPr/>
        </p:nvPicPr>
        <p:blipFill>
          <a:blip r:embed="rId1"/>
          <a:stretch>
            <a:fillRect/>
          </a:stretch>
        </p:blipFill>
        <p:spPr>
          <a:xfrm>
            <a:off x="2137410" y="3213735"/>
            <a:ext cx="7740015" cy="26073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ext 0"/>
          <p:cNvSpPr/>
          <p:nvPr/>
        </p:nvSpPr>
        <p:spPr>
          <a:xfrm>
            <a:off x="411480" y="237744"/>
            <a:ext cx="6858000" cy="256032"/>
          </a:xfrm>
          <a:prstGeom prst="rect">
            <a:avLst/>
          </a:prstGeom>
          <a:noFill/>
        </p:spPr>
        <p:txBody>
          <a:bodyPr wrap="square" lIns="0" tIns="0" rIns="0" bIns="0" rtlCol="0" anchor="ctr"/>
          <a:lstStyle/>
          <a:p>
            <a:pPr marL="0" indent="0">
              <a:buNone/>
            </a:pPr>
            <a:r>
              <a:rPr lang="en-US" sz="750" b="1" dirty="0">
                <a:solidFill>
                  <a:srgbClr val="6F767D"/>
                </a:solidFill>
                <a:latin typeface="Times New Roman" panose="02020603050405020304" charset="0"/>
                <a:ea typeface="JetBrains Mono" pitchFamily="34" charset="-122"/>
                <a:cs typeface="Times New Roman" panose="02020603050405020304" charset="0"/>
              </a:rPr>
              <a:t>ASPIRE</a:t>
            </a:r>
            <a:endParaRPr lang="en-US" sz="750" b="1"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5" name="Text 3"/>
          <p:cNvSpPr/>
          <p:nvPr/>
        </p:nvSpPr>
        <p:spPr>
          <a:xfrm>
            <a:off x="566928" y="749808"/>
            <a:ext cx="10881360" cy="548640"/>
          </a:xfrm>
          <a:prstGeom prst="rect">
            <a:avLst/>
          </a:prstGeom>
          <a:noFill/>
        </p:spPr>
        <p:txBody>
          <a:bodyPr wrap="square" lIns="0" tIns="0" rIns="0" bIns="0" rtlCol="0" anchor="ctr">
            <a:normAutofit/>
          </a:bodyPr>
          <a:lstStyle/>
          <a:p>
            <a:pPr marL="0" indent="0">
              <a:buNone/>
            </a:pPr>
            <a:r>
              <a:rPr lang="en-US" sz="3100" dirty="0">
                <a:solidFill>
                  <a:srgbClr val="0A0A0A"/>
                </a:solidFill>
                <a:latin typeface="Times New Roman" panose="02020603050405020304" charset="0"/>
                <a:ea typeface="Noto Sans CJK SC" pitchFamily="34" charset="-122"/>
                <a:cs typeface="Times New Roman" panose="02020603050405020304" charset="0"/>
              </a:rPr>
              <a:t>ASPIRE：在控制程序空间里发现可复用机器人技能</a:t>
            </a:r>
            <a:endParaRPr lang="en-US" sz="3100"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6" name="Text 4"/>
          <p:cNvSpPr/>
          <p:nvPr/>
        </p:nvSpPr>
        <p:spPr>
          <a:xfrm>
            <a:off x="585216" y="1444752"/>
            <a:ext cx="10332720" cy="292608"/>
          </a:xfrm>
          <a:prstGeom prst="rect">
            <a:avLst/>
          </a:prstGeom>
          <a:noFill/>
        </p:spPr>
        <p:txBody>
          <a:bodyPr wrap="square" lIns="0" tIns="0" rIns="0" bIns="0" rtlCol="0" anchor="ctr"/>
          <a:lstStyle/>
          <a:p>
            <a:pPr marL="0" indent="0">
              <a:buNone/>
            </a:pPr>
            <a:r>
              <a:rPr lang="en-US" sz="1200" dirty="0">
                <a:solidFill>
                  <a:srgbClr val="6F767D"/>
                </a:solidFill>
                <a:latin typeface="Times New Roman" panose="02020603050405020304" charset="0"/>
                <a:ea typeface="Noto Sans CJK SC" pitchFamily="34" charset="-122"/>
                <a:cs typeface="Times New Roman" panose="02020603050405020304" charset="0"/>
              </a:rPr>
              <a:t>它把 CaP 从一次性生成，推进到持续探索、失败诊断、修复蒸馏、技能库复用。</a:t>
            </a:r>
            <a:endParaRPr lang="en-US" sz="1200" dirty="0">
              <a:solidFill>
                <a:srgbClr val="6F767D"/>
              </a:solidFill>
              <a:latin typeface="Times New Roman" panose="02020603050405020304" charset="0"/>
              <a:ea typeface="Noto Sans CJK SC" pitchFamily="34" charset="-122"/>
              <a:cs typeface="Times New Roman" panose="02020603050405020304" charset="0"/>
            </a:endParaRPr>
          </a:p>
        </p:txBody>
      </p:sp>
      <p:pic>
        <p:nvPicPr>
          <p:cNvPr id="22" name="图片 21"/>
          <p:cNvPicPr>
            <a:picLocks noChangeAspect="1"/>
          </p:cNvPicPr>
          <p:nvPr/>
        </p:nvPicPr>
        <p:blipFill>
          <a:blip r:embed="rId1"/>
          <a:stretch>
            <a:fillRect/>
          </a:stretch>
        </p:blipFill>
        <p:spPr>
          <a:xfrm>
            <a:off x="366395" y="2302510"/>
            <a:ext cx="6076315" cy="3679190"/>
          </a:xfrm>
          <a:prstGeom prst="rect">
            <a:avLst/>
          </a:prstGeom>
        </p:spPr>
      </p:pic>
      <p:pic>
        <p:nvPicPr>
          <p:cNvPr id="24" name="图片 23"/>
          <p:cNvPicPr>
            <a:picLocks noChangeAspect="1"/>
          </p:cNvPicPr>
          <p:nvPr/>
        </p:nvPicPr>
        <p:blipFill>
          <a:blip r:embed="rId2"/>
          <a:srcRect r="19727"/>
          <a:stretch>
            <a:fillRect/>
          </a:stretch>
        </p:blipFill>
        <p:spPr>
          <a:xfrm>
            <a:off x="6442710" y="2463800"/>
            <a:ext cx="5405755" cy="33642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3" name="图片 22"/>
          <p:cNvPicPr>
            <a:picLocks noChangeAspect="1"/>
          </p:cNvPicPr>
          <p:nvPr/>
        </p:nvPicPr>
        <p:blipFill>
          <a:blip r:embed="rId1"/>
          <a:stretch>
            <a:fillRect/>
          </a:stretch>
        </p:blipFill>
        <p:spPr>
          <a:xfrm>
            <a:off x="1936750" y="1266825"/>
            <a:ext cx="8782050" cy="47053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532890" y="733425"/>
            <a:ext cx="9124950" cy="53911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411480" y="237744"/>
            <a:ext cx="6858000" cy="256032"/>
          </a:xfrm>
          <a:prstGeom prst="rect">
            <a:avLst/>
          </a:prstGeom>
          <a:noFill/>
        </p:spPr>
        <p:txBody>
          <a:bodyPr wrap="square" lIns="0" tIns="0" rIns="0" bIns="0" rtlCol="0" anchor="ctr"/>
          <a:lstStyle/>
          <a:p>
            <a:pPr marL="0" indent="0">
              <a:buNone/>
            </a:pPr>
            <a:r>
              <a:rPr lang="en-US" sz="750" b="1" dirty="0">
                <a:solidFill>
                  <a:srgbClr val="6F767D"/>
                </a:solidFill>
                <a:latin typeface="Times New Roman" panose="02020603050405020304" charset="0"/>
                <a:ea typeface="JetBrains Mono" pitchFamily="34" charset="-122"/>
                <a:cs typeface="Times New Roman" panose="02020603050405020304" charset="0"/>
              </a:rPr>
              <a:t>ENPIRE</a:t>
            </a:r>
            <a:endParaRPr lang="en-US" sz="750" b="1"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5" name="Text 3"/>
          <p:cNvSpPr/>
          <p:nvPr/>
        </p:nvSpPr>
        <p:spPr>
          <a:xfrm>
            <a:off x="567055" y="635635"/>
            <a:ext cx="11182985" cy="548640"/>
          </a:xfrm>
          <a:prstGeom prst="rect">
            <a:avLst/>
          </a:prstGeom>
          <a:noFill/>
        </p:spPr>
        <p:txBody>
          <a:bodyPr wrap="square" lIns="0" tIns="0" rIns="0" bIns="0" rtlCol="0" anchor="ctr">
            <a:normAutofit/>
          </a:bodyPr>
          <a:lstStyle/>
          <a:p>
            <a:pPr marL="0" indent="0">
              <a:buNone/>
            </a:pPr>
            <a:r>
              <a:rPr lang="en-US" sz="3100" dirty="0">
                <a:solidFill>
                  <a:srgbClr val="0A0A0A"/>
                </a:solidFill>
                <a:latin typeface="Times New Roman" panose="02020603050405020304" charset="0"/>
                <a:ea typeface="Noto Sans CJK SC" pitchFamily="34" charset="-122"/>
                <a:cs typeface="Times New Roman" panose="02020603050405020304" charset="0"/>
              </a:rPr>
              <a:t>ENPIRE：把真实机器人学习变成 coding-agent 可管理的优化循环</a:t>
            </a:r>
            <a:endParaRPr lang="en-US" sz="3100" dirty="0">
              <a:solidFill>
                <a:srgbClr val="0A0A0A"/>
              </a:solidFill>
              <a:latin typeface="Times New Roman" panose="02020603050405020304" charset="0"/>
              <a:ea typeface="Noto Sans CJK SC" pitchFamily="34" charset="-122"/>
              <a:cs typeface="Times New Roman" panose="02020603050405020304" charset="0"/>
            </a:endParaRPr>
          </a:p>
        </p:txBody>
      </p:sp>
      <p:pic>
        <p:nvPicPr>
          <p:cNvPr id="28" name="图片 27"/>
          <p:cNvPicPr>
            <a:picLocks noChangeAspect="1"/>
          </p:cNvPicPr>
          <p:nvPr/>
        </p:nvPicPr>
        <p:blipFill>
          <a:blip r:embed="rId1"/>
          <a:stretch>
            <a:fillRect/>
          </a:stretch>
        </p:blipFill>
        <p:spPr>
          <a:xfrm>
            <a:off x="1908175" y="1184275"/>
            <a:ext cx="7931785" cy="54324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570865" y="1371600"/>
            <a:ext cx="11049000" cy="4114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509520" y="537845"/>
            <a:ext cx="7610475" cy="57816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556895" y="1352550"/>
            <a:ext cx="11077575" cy="41529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392805" y="233045"/>
            <a:ext cx="5268595" cy="63925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836545" y="264795"/>
            <a:ext cx="6184900" cy="65074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499995" y="838200"/>
            <a:ext cx="6848475" cy="51816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2338070" y="642620"/>
            <a:ext cx="7515225" cy="55721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411480" y="237744"/>
            <a:ext cx="6858000" cy="256032"/>
          </a:xfrm>
          <a:prstGeom prst="rect">
            <a:avLst/>
          </a:prstGeom>
          <a:noFill/>
        </p:spPr>
        <p:txBody>
          <a:bodyPr wrap="square" lIns="0" tIns="0" rIns="0" bIns="0" rtlCol="0" anchor="ctr"/>
          <a:lstStyle/>
          <a:p>
            <a:pPr marL="0" indent="0">
              <a:buNone/>
            </a:pPr>
            <a:r>
              <a:rPr lang="en-US" sz="750" b="1" dirty="0">
                <a:solidFill>
                  <a:srgbClr val="6F767D"/>
                </a:solidFill>
                <a:latin typeface="Times New Roman" panose="02020603050405020304" charset="0"/>
                <a:ea typeface="JetBrains Mono" pitchFamily="34" charset="-122"/>
                <a:cs typeface="Times New Roman" panose="02020603050405020304" charset="0"/>
              </a:rPr>
              <a:t>COMPARISON</a:t>
            </a:r>
            <a:endParaRPr lang="en-US" sz="750" b="1"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4" name="Shape 2"/>
          <p:cNvSpPr/>
          <p:nvPr/>
        </p:nvSpPr>
        <p:spPr>
          <a:xfrm>
            <a:off x="411480" y="6382512"/>
            <a:ext cx="11365992" cy="0"/>
          </a:xfrm>
          <a:prstGeom prst="line">
            <a:avLst/>
          </a:prstGeom>
          <a:noFill/>
          <a:ln w="6350">
            <a:solidFill>
              <a:srgbClr val="D6D9DC"/>
            </a:solidFill>
            <a:prstDash val="solid"/>
          </a:ln>
        </p:spPr>
      </p:sp>
      <p:sp>
        <p:nvSpPr>
          <p:cNvPr id="5" name="Text 3"/>
          <p:cNvSpPr/>
          <p:nvPr/>
        </p:nvSpPr>
        <p:spPr>
          <a:xfrm>
            <a:off x="566928" y="749808"/>
            <a:ext cx="10881360" cy="548640"/>
          </a:xfrm>
          <a:prstGeom prst="rect">
            <a:avLst/>
          </a:prstGeom>
          <a:noFill/>
        </p:spPr>
        <p:txBody>
          <a:bodyPr wrap="square" lIns="0" tIns="0" rIns="0" bIns="0" rtlCol="0" anchor="ctr">
            <a:normAutofit/>
          </a:bodyPr>
          <a:lstStyle/>
          <a:p>
            <a:pPr marL="0" indent="0">
              <a:buNone/>
            </a:pPr>
            <a:r>
              <a:rPr lang="en-US" sz="3100" dirty="0">
                <a:solidFill>
                  <a:srgbClr val="0A0A0A"/>
                </a:solidFill>
                <a:latin typeface="Times New Roman" panose="02020603050405020304" charset="0"/>
                <a:ea typeface="Noto Sans CJK SC" pitchFamily="34" charset="-122"/>
                <a:cs typeface="Noto Sans CJK SC" pitchFamily="34" charset="-120"/>
              </a:rPr>
              <a:t>横向比较：每篇文章到底在进化什么？</a:t>
            </a:r>
            <a:endParaRPr lang="en-US" sz="3100" dirty="0">
              <a:solidFill>
                <a:srgbClr val="0A0A0A"/>
              </a:solidFill>
              <a:latin typeface="Times New Roman" panose="02020603050405020304" charset="0"/>
              <a:ea typeface="Noto Sans CJK SC" pitchFamily="34" charset="-122"/>
              <a:cs typeface="Noto Sans CJK SC" pitchFamily="34" charset="-120"/>
            </a:endParaRPr>
          </a:p>
        </p:txBody>
      </p:sp>
      <p:sp>
        <p:nvSpPr>
          <p:cNvPr id="6" name="Text 4"/>
          <p:cNvSpPr/>
          <p:nvPr/>
        </p:nvSpPr>
        <p:spPr>
          <a:xfrm>
            <a:off x="585216" y="1444752"/>
            <a:ext cx="10332720" cy="292608"/>
          </a:xfrm>
          <a:prstGeom prst="rect">
            <a:avLst/>
          </a:prstGeom>
          <a:noFill/>
        </p:spPr>
        <p:txBody>
          <a:bodyPr wrap="square" lIns="0" tIns="0" rIns="0" bIns="0" rtlCol="0" anchor="ctr"/>
          <a:lstStyle/>
          <a:p>
            <a:pPr marL="0" indent="0">
              <a:buNone/>
            </a:pPr>
            <a:r>
              <a:rPr lang="en-US" sz="1200" dirty="0">
                <a:solidFill>
                  <a:srgbClr val="6F767D"/>
                </a:solidFill>
                <a:latin typeface="Times New Roman" panose="02020603050405020304" charset="0"/>
                <a:ea typeface="Noto Sans CJK SC" pitchFamily="34" charset="-122"/>
                <a:cs typeface="Noto Sans CJK SC" pitchFamily="34" charset="-120"/>
              </a:rPr>
              <a:t>这一页建议放在读完每篇之后，给听众一个收束视角。</a:t>
            </a:r>
            <a:endParaRPr lang="en-US" sz="1200" dirty="0">
              <a:solidFill>
                <a:srgbClr val="6F767D"/>
              </a:solidFill>
              <a:latin typeface="Times New Roman" panose="02020603050405020304" charset="0"/>
              <a:ea typeface="Noto Sans CJK SC" pitchFamily="34" charset="-122"/>
              <a:cs typeface="Noto Sans CJK SC" pitchFamily="34" charset="-120"/>
            </a:endParaRPr>
          </a:p>
        </p:txBody>
      </p:sp>
      <p:sp>
        <p:nvSpPr>
          <p:cNvPr id="7" name="Text 5"/>
          <p:cNvSpPr/>
          <p:nvPr/>
        </p:nvSpPr>
        <p:spPr>
          <a:xfrm>
            <a:off x="594360" y="1828800"/>
            <a:ext cx="1874520" cy="310896"/>
          </a:xfrm>
          <a:prstGeom prst="rect">
            <a:avLst/>
          </a:prstGeom>
          <a:noFill/>
        </p:spPr>
        <p:txBody>
          <a:bodyPr wrap="square" lIns="0" tIns="0" rIns="0" bIns="0" rtlCol="0" anchor="ctr"/>
          <a:lstStyle/>
          <a:p>
            <a:pPr marL="0" indent="0">
              <a:buNone/>
            </a:pPr>
            <a:r>
              <a:rPr lang="en-US" sz="800" b="1" dirty="0">
                <a:solidFill>
                  <a:srgbClr val="6F767D"/>
                </a:solidFill>
                <a:latin typeface="Times New Roman" panose="02020603050405020304" charset="0"/>
                <a:ea typeface="JetBrains Mono" pitchFamily="34" charset="-122"/>
                <a:cs typeface="Times New Roman" panose="02020603050405020304" charset="0"/>
              </a:rPr>
              <a:t>Paper</a:t>
            </a:r>
            <a:endParaRPr lang="en-US" sz="800" b="1"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8" name="Text 6"/>
          <p:cNvSpPr/>
          <p:nvPr/>
        </p:nvSpPr>
        <p:spPr>
          <a:xfrm>
            <a:off x="2514600" y="1828800"/>
            <a:ext cx="1920240" cy="310896"/>
          </a:xfrm>
          <a:prstGeom prst="rect">
            <a:avLst/>
          </a:prstGeom>
          <a:noFill/>
        </p:spPr>
        <p:txBody>
          <a:bodyPr wrap="square" lIns="0" tIns="0" rIns="0" bIns="0" rtlCol="0" anchor="ctr"/>
          <a:lstStyle/>
          <a:p>
            <a:pPr marL="0" indent="0">
              <a:buNone/>
            </a:pPr>
            <a:r>
              <a:rPr lang="en-US" sz="800" b="1" dirty="0">
                <a:solidFill>
                  <a:srgbClr val="002FA7"/>
                </a:solidFill>
                <a:latin typeface="Times New Roman" panose="02020603050405020304" charset="0"/>
                <a:ea typeface="JetBrains Mono" pitchFamily="34" charset="-122"/>
                <a:cs typeface="Times New Roman" panose="02020603050405020304" charset="0"/>
              </a:rPr>
              <a:t>外部状态 z</a:t>
            </a:r>
            <a:endParaRPr lang="en-US" sz="800" b="1" dirty="0">
              <a:solidFill>
                <a:srgbClr val="002FA7"/>
              </a:solidFill>
              <a:latin typeface="Times New Roman" panose="02020603050405020304" charset="0"/>
              <a:ea typeface="JetBrains Mono" pitchFamily="34" charset="-122"/>
              <a:cs typeface="Times New Roman" panose="02020603050405020304" charset="0"/>
            </a:endParaRPr>
          </a:p>
        </p:txBody>
      </p:sp>
      <p:sp>
        <p:nvSpPr>
          <p:cNvPr id="9" name="Text 7"/>
          <p:cNvSpPr/>
          <p:nvPr/>
        </p:nvSpPr>
        <p:spPr>
          <a:xfrm>
            <a:off x="4480560" y="1828800"/>
            <a:ext cx="2651760" cy="310896"/>
          </a:xfrm>
          <a:prstGeom prst="rect">
            <a:avLst/>
          </a:prstGeom>
          <a:noFill/>
        </p:spPr>
        <p:txBody>
          <a:bodyPr wrap="square" lIns="0" tIns="0" rIns="0" bIns="0" rtlCol="0" anchor="ctr"/>
          <a:lstStyle/>
          <a:p>
            <a:pPr marL="0" indent="0">
              <a:buNone/>
            </a:pPr>
            <a:r>
              <a:rPr lang="en-US" sz="800" b="1" dirty="0">
                <a:solidFill>
                  <a:srgbClr val="6F767D"/>
                </a:solidFill>
                <a:latin typeface="Times New Roman" panose="02020603050405020304" charset="0"/>
                <a:ea typeface="JetBrains Mono" pitchFamily="34" charset="-122"/>
                <a:cs typeface="JetBrains Mono" pitchFamily="34" charset="-120"/>
              </a:rPr>
              <a:t>反馈</a:t>
            </a:r>
            <a:endParaRPr lang="en-US" sz="800" b="1" dirty="0">
              <a:solidFill>
                <a:srgbClr val="6F767D"/>
              </a:solidFill>
              <a:latin typeface="Times New Roman" panose="02020603050405020304" charset="0"/>
              <a:ea typeface="JetBrains Mono" pitchFamily="34" charset="-122"/>
              <a:cs typeface="JetBrains Mono" pitchFamily="34" charset="-120"/>
            </a:endParaRPr>
          </a:p>
        </p:txBody>
      </p:sp>
      <p:sp>
        <p:nvSpPr>
          <p:cNvPr id="10" name="Text 8"/>
          <p:cNvSpPr/>
          <p:nvPr/>
        </p:nvSpPr>
        <p:spPr>
          <a:xfrm>
            <a:off x="7178040" y="1828800"/>
            <a:ext cx="2423160" cy="310896"/>
          </a:xfrm>
          <a:prstGeom prst="rect">
            <a:avLst/>
          </a:prstGeom>
          <a:noFill/>
        </p:spPr>
        <p:txBody>
          <a:bodyPr wrap="square" lIns="0" tIns="0" rIns="0" bIns="0" rtlCol="0" anchor="ctr"/>
          <a:lstStyle/>
          <a:p>
            <a:pPr marL="0" indent="0">
              <a:buNone/>
            </a:pPr>
            <a:r>
              <a:rPr lang="en-US" sz="800" b="1" dirty="0">
                <a:solidFill>
                  <a:srgbClr val="6F767D"/>
                </a:solidFill>
                <a:latin typeface="Times New Roman" panose="02020603050405020304" charset="0"/>
                <a:ea typeface="JetBrains Mono" pitchFamily="34" charset="-122"/>
                <a:cs typeface="Times New Roman" panose="02020603050405020304" charset="0"/>
              </a:rPr>
              <a:t>验证/选择</a:t>
            </a:r>
            <a:endParaRPr lang="en-US" sz="800" b="1"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11" name="Text 9"/>
          <p:cNvSpPr/>
          <p:nvPr/>
        </p:nvSpPr>
        <p:spPr>
          <a:xfrm>
            <a:off x="9646920" y="1828800"/>
            <a:ext cx="2148840" cy="310896"/>
          </a:xfrm>
          <a:prstGeom prst="rect">
            <a:avLst/>
          </a:prstGeom>
          <a:noFill/>
        </p:spPr>
        <p:txBody>
          <a:bodyPr wrap="square" lIns="0" tIns="0" rIns="0" bIns="0" rtlCol="0" anchor="ctr"/>
          <a:lstStyle/>
          <a:p>
            <a:pPr marL="0" indent="0">
              <a:buNone/>
            </a:pPr>
            <a:r>
              <a:rPr lang="en-US" sz="800" b="1" dirty="0">
                <a:solidFill>
                  <a:srgbClr val="6F767D"/>
                </a:solidFill>
                <a:latin typeface="Times New Roman" panose="02020603050405020304" charset="0"/>
                <a:ea typeface="JetBrains Mono" pitchFamily="34" charset="-122"/>
                <a:cs typeface="JetBrains Mono" pitchFamily="34" charset="-120"/>
              </a:rPr>
              <a:t>定位</a:t>
            </a:r>
            <a:endParaRPr lang="en-US" sz="800" b="1" dirty="0">
              <a:solidFill>
                <a:srgbClr val="6F767D"/>
              </a:solidFill>
              <a:latin typeface="Times New Roman" panose="02020603050405020304" charset="0"/>
              <a:ea typeface="JetBrains Mono" pitchFamily="34" charset="-122"/>
              <a:cs typeface="JetBrains Mono" pitchFamily="34" charset="-120"/>
            </a:endParaRPr>
          </a:p>
        </p:txBody>
      </p:sp>
      <p:sp>
        <p:nvSpPr>
          <p:cNvPr id="12" name="Shape 10"/>
          <p:cNvSpPr/>
          <p:nvPr/>
        </p:nvSpPr>
        <p:spPr>
          <a:xfrm>
            <a:off x="594360" y="2240280"/>
            <a:ext cx="10972800" cy="0"/>
          </a:xfrm>
          <a:prstGeom prst="line">
            <a:avLst/>
          </a:prstGeom>
          <a:noFill/>
          <a:ln w="7620">
            <a:solidFill>
              <a:srgbClr val="D6D9DC"/>
            </a:solidFill>
            <a:prstDash val="solid"/>
          </a:ln>
        </p:spPr>
      </p:sp>
      <p:sp>
        <p:nvSpPr>
          <p:cNvPr id="13" name="Text 11"/>
          <p:cNvSpPr/>
          <p:nvPr/>
        </p:nvSpPr>
        <p:spPr>
          <a:xfrm>
            <a:off x="594360" y="2450592"/>
            <a:ext cx="1874520" cy="457200"/>
          </a:xfrm>
          <a:prstGeom prst="rect">
            <a:avLst/>
          </a:prstGeom>
          <a:noFill/>
        </p:spPr>
        <p:txBody>
          <a:bodyPr wrap="square" lIns="0" tIns="0" rIns="0" bIns="0" rtlCol="0" anchor="ctr">
            <a:normAutofit/>
          </a:bodyPr>
          <a:lstStyle/>
          <a:p>
            <a:pPr marL="0" indent="0">
              <a:buNone/>
            </a:pPr>
            <a:r>
              <a:rPr lang="en-US" sz="1150" b="1" dirty="0">
                <a:solidFill>
                  <a:srgbClr val="0A0A0A"/>
                </a:solidFill>
                <a:latin typeface="Times New Roman" panose="02020603050405020304" charset="0"/>
                <a:ea typeface="Noto Sans CJK SC" pitchFamily="34" charset="-122"/>
                <a:cs typeface="Times New Roman" panose="02020603050405020304" charset="0"/>
              </a:rPr>
              <a:t>Code as Policies</a:t>
            </a:r>
            <a:endParaRPr lang="en-US" sz="115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14" name="Text 12"/>
          <p:cNvSpPr/>
          <p:nvPr/>
        </p:nvSpPr>
        <p:spPr>
          <a:xfrm>
            <a:off x="2514600" y="2450592"/>
            <a:ext cx="1920240" cy="457200"/>
          </a:xfrm>
          <a:prstGeom prst="rect">
            <a:avLst/>
          </a:prstGeom>
          <a:noFill/>
        </p:spPr>
        <p:txBody>
          <a:bodyPr wrap="square" lIns="0" tIns="0" rIns="0" bIns="0" rtlCol="0" anchor="ctr">
            <a:normAutofit/>
          </a:bodyPr>
          <a:lstStyle/>
          <a:p>
            <a:pPr marL="0" indent="0">
              <a:buNone/>
            </a:pPr>
            <a:r>
              <a:rPr lang="en-US" sz="1020" dirty="0">
                <a:solidFill>
                  <a:srgbClr val="002FA7"/>
                </a:solidFill>
                <a:latin typeface="Times New Roman" panose="02020603050405020304" charset="0"/>
                <a:ea typeface="Noto Sans CJK SC" pitchFamily="34" charset="-122"/>
                <a:cs typeface="Times New Roman" panose="02020603050405020304" charset="0"/>
              </a:rPr>
              <a:t>policy code</a:t>
            </a:r>
            <a:endParaRPr lang="en-US" sz="1020" dirty="0">
              <a:solidFill>
                <a:srgbClr val="002FA7"/>
              </a:solidFill>
              <a:latin typeface="Times New Roman" panose="02020603050405020304" charset="0"/>
              <a:ea typeface="Noto Sans CJK SC" pitchFamily="34" charset="-122"/>
              <a:cs typeface="Times New Roman" panose="02020603050405020304" charset="0"/>
            </a:endParaRPr>
          </a:p>
        </p:txBody>
      </p:sp>
      <p:sp>
        <p:nvSpPr>
          <p:cNvPr id="15" name="Text 13"/>
          <p:cNvSpPr/>
          <p:nvPr/>
        </p:nvSpPr>
        <p:spPr>
          <a:xfrm>
            <a:off x="4480560" y="2450592"/>
            <a:ext cx="2651760" cy="457200"/>
          </a:xfrm>
          <a:prstGeom prst="rect">
            <a:avLst/>
          </a:prstGeom>
          <a:noFill/>
        </p:spPr>
        <p:txBody>
          <a:bodyPr wrap="square" lIns="0" tIns="0" rIns="0" bIns="0" rtlCol="0" anchor="ctr">
            <a:normAutofit/>
          </a:bodyPr>
          <a:lstStyle/>
          <a:p>
            <a:pPr marL="0" indent="0">
              <a:buNone/>
            </a:pPr>
            <a:r>
              <a:rPr lang="en-US" sz="1020" dirty="0">
                <a:solidFill>
                  <a:srgbClr val="0A0A0A"/>
                </a:solidFill>
                <a:latin typeface="Times New Roman" panose="02020603050405020304" charset="0"/>
                <a:ea typeface="Noto Sans CJK SC" pitchFamily="34" charset="-122"/>
                <a:cs typeface="Times New Roman" panose="02020603050405020304" charset="0"/>
              </a:rPr>
              <a:t>语言指令 + few-shot examples</a:t>
            </a:r>
            <a:endParaRPr lang="en-US" sz="1020"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16" name="Text 14"/>
          <p:cNvSpPr/>
          <p:nvPr/>
        </p:nvSpPr>
        <p:spPr>
          <a:xfrm>
            <a:off x="7178040" y="2450592"/>
            <a:ext cx="2423160" cy="457200"/>
          </a:xfrm>
          <a:prstGeom prst="rect">
            <a:avLst/>
          </a:prstGeom>
          <a:noFill/>
        </p:spPr>
        <p:txBody>
          <a:bodyPr wrap="square" lIns="0" tIns="0" rIns="0" bIns="0" rtlCol="0" anchor="ctr">
            <a:normAutofit/>
          </a:bodyPr>
          <a:lstStyle/>
          <a:p>
            <a:pPr marL="0" indent="0">
              <a:buNone/>
            </a:pPr>
            <a:r>
              <a:rPr lang="en-US" sz="1020" dirty="0">
                <a:solidFill>
                  <a:srgbClr val="0A0A0A"/>
                </a:solidFill>
                <a:latin typeface="Times New Roman" panose="02020603050405020304" charset="0"/>
                <a:ea typeface="Noto Sans CJK SC" pitchFamily="34" charset="-122"/>
                <a:cs typeface="Times New Roman" panose="02020603050405020304" charset="0"/>
              </a:rPr>
              <a:t>程序可执行性 / 机器人任务完成</a:t>
            </a:r>
            <a:endParaRPr lang="en-US" sz="1020"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17" name="Text 15"/>
          <p:cNvSpPr/>
          <p:nvPr/>
        </p:nvSpPr>
        <p:spPr>
          <a:xfrm>
            <a:off x="9646920" y="2450592"/>
            <a:ext cx="2148840" cy="457200"/>
          </a:xfrm>
          <a:prstGeom prst="rect">
            <a:avLst/>
          </a:prstGeom>
          <a:noFill/>
        </p:spPr>
        <p:txBody>
          <a:bodyPr wrap="square" lIns="0" tIns="0" rIns="0" bIns="0" rtlCol="0" anchor="ctr">
            <a:normAutofit/>
          </a:bodyPr>
          <a:lstStyle/>
          <a:p>
            <a:pPr marL="0" indent="0">
              <a:buNone/>
            </a:pPr>
            <a:r>
              <a:rPr lang="en-US" sz="1020" dirty="0">
                <a:solidFill>
                  <a:srgbClr val="0A0A0A"/>
                </a:solidFill>
                <a:latin typeface="Times New Roman" panose="02020603050405020304" charset="0"/>
                <a:ea typeface="Noto Sans CJK SC" pitchFamily="34" charset="-122"/>
                <a:cs typeface="Noto Sans CJK SC" pitchFamily="34" charset="-120"/>
              </a:rPr>
              <a:t>提出范式</a:t>
            </a:r>
            <a:endParaRPr lang="en-US" sz="1020" dirty="0">
              <a:solidFill>
                <a:srgbClr val="0A0A0A"/>
              </a:solidFill>
              <a:latin typeface="Times New Roman" panose="02020603050405020304" charset="0"/>
              <a:ea typeface="Noto Sans CJK SC" pitchFamily="34" charset="-122"/>
              <a:cs typeface="Noto Sans CJK SC" pitchFamily="34" charset="-120"/>
            </a:endParaRPr>
          </a:p>
        </p:txBody>
      </p:sp>
      <p:sp>
        <p:nvSpPr>
          <p:cNvPr id="18" name="Shape 16"/>
          <p:cNvSpPr/>
          <p:nvPr/>
        </p:nvSpPr>
        <p:spPr>
          <a:xfrm>
            <a:off x="594360" y="2999232"/>
            <a:ext cx="10972800" cy="0"/>
          </a:xfrm>
          <a:prstGeom prst="line">
            <a:avLst/>
          </a:prstGeom>
          <a:noFill/>
          <a:ln w="4445">
            <a:solidFill>
              <a:srgbClr val="D6D9DC">
                <a:alpha val="75000"/>
              </a:srgbClr>
            </a:solidFill>
            <a:prstDash val="solid"/>
          </a:ln>
        </p:spPr>
      </p:sp>
      <p:sp>
        <p:nvSpPr>
          <p:cNvPr id="19" name="Text 17"/>
          <p:cNvSpPr/>
          <p:nvPr/>
        </p:nvSpPr>
        <p:spPr>
          <a:xfrm>
            <a:off x="594360" y="3163824"/>
            <a:ext cx="1874520" cy="457200"/>
          </a:xfrm>
          <a:prstGeom prst="rect">
            <a:avLst/>
          </a:prstGeom>
          <a:noFill/>
        </p:spPr>
        <p:txBody>
          <a:bodyPr wrap="square" lIns="0" tIns="0" rIns="0" bIns="0" rtlCol="0" anchor="ctr">
            <a:normAutofit/>
          </a:bodyPr>
          <a:lstStyle/>
          <a:p>
            <a:pPr marL="0" indent="0">
              <a:buNone/>
            </a:pPr>
            <a:r>
              <a:rPr lang="en-US" sz="1150" b="1" dirty="0">
                <a:solidFill>
                  <a:srgbClr val="0A0A0A"/>
                </a:solidFill>
                <a:latin typeface="Times New Roman" panose="02020603050405020304" charset="0"/>
                <a:ea typeface="Noto Sans CJK SC" pitchFamily="34" charset="-122"/>
                <a:cs typeface="Times New Roman" panose="02020603050405020304" charset="0"/>
              </a:rPr>
              <a:t>SkillOpt</a:t>
            </a:r>
            <a:endParaRPr lang="en-US" sz="115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20" name="Text 18"/>
          <p:cNvSpPr/>
          <p:nvPr/>
        </p:nvSpPr>
        <p:spPr>
          <a:xfrm>
            <a:off x="2514600" y="3163824"/>
            <a:ext cx="1920240" cy="457200"/>
          </a:xfrm>
          <a:prstGeom prst="rect">
            <a:avLst/>
          </a:prstGeom>
          <a:noFill/>
        </p:spPr>
        <p:txBody>
          <a:bodyPr wrap="square" lIns="0" tIns="0" rIns="0" bIns="0" rtlCol="0" anchor="ctr">
            <a:normAutofit/>
          </a:bodyPr>
          <a:lstStyle/>
          <a:p>
            <a:pPr marL="0" indent="0">
              <a:buNone/>
            </a:pPr>
            <a:r>
              <a:rPr lang="en-US" sz="1020" dirty="0">
                <a:solidFill>
                  <a:srgbClr val="002FA7"/>
                </a:solidFill>
                <a:latin typeface="Times New Roman" panose="02020603050405020304" charset="0"/>
                <a:ea typeface="Noto Sans CJK SC" pitchFamily="34" charset="-122"/>
                <a:cs typeface="Times New Roman" panose="02020603050405020304" charset="0"/>
              </a:rPr>
              <a:t>skill.md</a:t>
            </a:r>
            <a:endParaRPr lang="en-US" sz="1020" dirty="0">
              <a:solidFill>
                <a:srgbClr val="002FA7"/>
              </a:solidFill>
              <a:latin typeface="Times New Roman" panose="02020603050405020304" charset="0"/>
              <a:ea typeface="Noto Sans CJK SC" pitchFamily="34" charset="-122"/>
              <a:cs typeface="Times New Roman" panose="02020603050405020304" charset="0"/>
            </a:endParaRPr>
          </a:p>
        </p:txBody>
      </p:sp>
      <p:sp>
        <p:nvSpPr>
          <p:cNvPr id="21" name="Text 19"/>
          <p:cNvSpPr/>
          <p:nvPr/>
        </p:nvSpPr>
        <p:spPr>
          <a:xfrm>
            <a:off x="4480560" y="3163824"/>
            <a:ext cx="2651760" cy="457200"/>
          </a:xfrm>
          <a:prstGeom prst="rect">
            <a:avLst/>
          </a:prstGeom>
          <a:noFill/>
        </p:spPr>
        <p:txBody>
          <a:bodyPr wrap="square" lIns="0" tIns="0" rIns="0" bIns="0" rtlCol="0" anchor="ctr">
            <a:normAutofit/>
          </a:bodyPr>
          <a:lstStyle/>
          <a:p>
            <a:pPr marL="0" indent="0">
              <a:buNone/>
            </a:pPr>
            <a:r>
              <a:rPr lang="en-US" sz="1020" dirty="0">
                <a:solidFill>
                  <a:srgbClr val="0A0A0A"/>
                </a:solidFill>
                <a:latin typeface="Times New Roman" panose="02020603050405020304" charset="0"/>
                <a:ea typeface="Noto Sans CJK SC" pitchFamily="34" charset="-122"/>
                <a:cs typeface="Times New Roman" panose="02020603050405020304" charset="0"/>
              </a:rPr>
              <a:t>scored rollouts</a:t>
            </a:r>
            <a:endParaRPr lang="en-US" sz="1020"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22" name="Text 20"/>
          <p:cNvSpPr/>
          <p:nvPr/>
        </p:nvSpPr>
        <p:spPr>
          <a:xfrm>
            <a:off x="7178040" y="3163824"/>
            <a:ext cx="2423160" cy="457200"/>
          </a:xfrm>
          <a:prstGeom prst="rect">
            <a:avLst/>
          </a:prstGeom>
          <a:noFill/>
        </p:spPr>
        <p:txBody>
          <a:bodyPr wrap="square" lIns="0" tIns="0" rIns="0" bIns="0" rtlCol="0" anchor="ctr">
            <a:normAutofit/>
          </a:bodyPr>
          <a:lstStyle/>
          <a:p>
            <a:pPr marL="0" indent="0">
              <a:buNone/>
            </a:pPr>
            <a:r>
              <a:rPr lang="en-US" sz="1020" dirty="0">
                <a:solidFill>
                  <a:srgbClr val="0A0A0A"/>
                </a:solidFill>
                <a:latin typeface="Times New Roman" panose="02020603050405020304" charset="0"/>
                <a:ea typeface="Noto Sans CJK SC" pitchFamily="34" charset="-122"/>
                <a:cs typeface="Times New Roman" panose="02020603050405020304" charset="0"/>
              </a:rPr>
              <a:t>held-out validation score</a:t>
            </a:r>
            <a:endParaRPr lang="en-US" sz="1020"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23" name="Text 21"/>
          <p:cNvSpPr/>
          <p:nvPr/>
        </p:nvSpPr>
        <p:spPr>
          <a:xfrm>
            <a:off x="9646920" y="3163824"/>
            <a:ext cx="2148840" cy="457200"/>
          </a:xfrm>
          <a:prstGeom prst="rect">
            <a:avLst/>
          </a:prstGeom>
          <a:noFill/>
        </p:spPr>
        <p:txBody>
          <a:bodyPr wrap="square" lIns="0" tIns="0" rIns="0" bIns="0" rtlCol="0" anchor="ctr">
            <a:normAutofit/>
          </a:bodyPr>
          <a:lstStyle/>
          <a:p>
            <a:pPr marL="0" indent="0">
              <a:buNone/>
            </a:pPr>
            <a:r>
              <a:rPr lang="en-US" sz="1020" dirty="0">
                <a:solidFill>
                  <a:srgbClr val="0A0A0A"/>
                </a:solidFill>
                <a:latin typeface="Times New Roman" panose="02020603050405020304" charset="0"/>
                <a:ea typeface="Noto Sans CJK SC" pitchFamily="34" charset="-122"/>
                <a:cs typeface="Noto Sans CJK SC" pitchFamily="34" charset="-120"/>
              </a:rPr>
              <a:t>自进化算法抽象</a:t>
            </a:r>
            <a:endParaRPr lang="en-US" sz="1020" dirty="0">
              <a:solidFill>
                <a:srgbClr val="0A0A0A"/>
              </a:solidFill>
              <a:latin typeface="Times New Roman" panose="02020603050405020304" charset="0"/>
              <a:ea typeface="Noto Sans CJK SC" pitchFamily="34" charset="-122"/>
              <a:cs typeface="Noto Sans CJK SC" pitchFamily="34" charset="-120"/>
            </a:endParaRPr>
          </a:p>
        </p:txBody>
      </p:sp>
      <p:sp>
        <p:nvSpPr>
          <p:cNvPr id="24" name="Shape 22"/>
          <p:cNvSpPr/>
          <p:nvPr/>
        </p:nvSpPr>
        <p:spPr>
          <a:xfrm>
            <a:off x="594360" y="3712464"/>
            <a:ext cx="10972800" cy="0"/>
          </a:xfrm>
          <a:prstGeom prst="line">
            <a:avLst/>
          </a:prstGeom>
          <a:noFill/>
          <a:ln w="4445">
            <a:solidFill>
              <a:srgbClr val="D6D9DC">
                <a:alpha val="75000"/>
              </a:srgbClr>
            </a:solidFill>
            <a:prstDash val="solid"/>
          </a:ln>
        </p:spPr>
      </p:sp>
      <p:sp>
        <p:nvSpPr>
          <p:cNvPr id="25" name="Text 23"/>
          <p:cNvSpPr/>
          <p:nvPr/>
        </p:nvSpPr>
        <p:spPr>
          <a:xfrm>
            <a:off x="594360" y="3877056"/>
            <a:ext cx="1874520" cy="457200"/>
          </a:xfrm>
          <a:prstGeom prst="rect">
            <a:avLst/>
          </a:prstGeom>
          <a:noFill/>
        </p:spPr>
        <p:txBody>
          <a:bodyPr wrap="square" lIns="0" tIns="0" rIns="0" bIns="0" rtlCol="0" anchor="ctr">
            <a:normAutofit/>
          </a:bodyPr>
          <a:lstStyle/>
          <a:p>
            <a:pPr marL="0" indent="0">
              <a:buNone/>
            </a:pPr>
            <a:r>
              <a:rPr lang="en-US" sz="1150" b="1" dirty="0">
                <a:solidFill>
                  <a:srgbClr val="0A0A0A"/>
                </a:solidFill>
                <a:latin typeface="Times New Roman" panose="02020603050405020304" charset="0"/>
                <a:ea typeface="Noto Sans CJK SC" pitchFamily="34" charset="-122"/>
                <a:cs typeface="Times New Roman" panose="02020603050405020304" charset="0"/>
              </a:rPr>
              <a:t>CaP-X</a:t>
            </a:r>
            <a:endParaRPr lang="en-US" sz="115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26" name="Text 24"/>
          <p:cNvSpPr/>
          <p:nvPr/>
        </p:nvSpPr>
        <p:spPr>
          <a:xfrm>
            <a:off x="2514600" y="3877056"/>
            <a:ext cx="1920240" cy="457200"/>
          </a:xfrm>
          <a:prstGeom prst="rect">
            <a:avLst/>
          </a:prstGeom>
          <a:noFill/>
        </p:spPr>
        <p:txBody>
          <a:bodyPr wrap="square" lIns="0" tIns="0" rIns="0" bIns="0" rtlCol="0" anchor="ctr">
            <a:normAutofit/>
          </a:bodyPr>
          <a:lstStyle/>
          <a:p>
            <a:pPr marL="0" indent="0">
              <a:buNone/>
            </a:pPr>
            <a:r>
              <a:rPr lang="en-US" sz="1020" dirty="0">
                <a:solidFill>
                  <a:srgbClr val="002FA7"/>
                </a:solidFill>
                <a:latin typeface="Times New Roman" panose="02020603050405020304" charset="0"/>
                <a:ea typeface="Noto Sans CJK SC" pitchFamily="34" charset="-122"/>
                <a:cs typeface="Times New Roman" panose="02020603050405020304" charset="0"/>
              </a:rPr>
              <a:t>CaP agent / benchmark</a:t>
            </a:r>
            <a:endParaRPr lang="en-US" sz="1020" dirty="0">
              <a:solidFill>
                <a:srgbClr val="002FA7"/>
              </a:solidFill>
              <a:latin typeface="Times New Roman" panose="02020603050405020304" charset="0"/>
              <a:ea typeface="Noto Sans CJK SC" pitchFamily="34" charset="-122"/>
              <a:cs typeface="Times New Roman" panose="02020603050405020304" charset="0"/>
            </a:endParaRPr>
          </a:p>
        </p:txBody>
      </p:sp>
      <p:sp>
        <p:nvSpPr>
          <p:cNvPr id="27" name="Text 25"/>
          <p:cNvSpPr/>
          <p:nvPr/>
        </p:nvSpPr>
        <p:spPr>
          <a:xfrm>
            <a:off x="4480560" y="3877056"/>
            <a:ext cx="2651760" cy="457200"/>
          </a:xfrm>
          <a:prstGeom prst="rect">
            <a:avLst/>
          </a:prstGeom>
          <a:noFill/>
        </p:spPr>
        <p:txBody>
          <a:bodyPr wrap="square" lIns="0" tIns="0" rIns="0" bIns="0" rtlCol="0" anchor="ctr">
            <a:normAutofit/>
          </a:bodyPr>
          <a:lstStyle/>
          <a:p>
            <a:pPr marL="0" indent="0">
              <a:buNone/>
            </a:pPr>
            <a:r>
              <a:rPr lang="en-US" sz="1020" dirty="0">
                <a:solidFill>
                  <a:srgbClr val="0A0A0A"/>
                </a:solidFill>
                <a:latin typeface="Times New Roman" panose="02020603050405020304" charset="0"/>
                <a:ea typeface="Noto Sans CJK SC" pitchFamily="34" charset="-122"/>
                <a:cs typeface="Times New Roman" panose="02020603050405020304" charset="0"/>
              </a:rPr>
              <a:t>execution feedback / visual diff</a:t>
            </a:r>
            <a:endParaRPr lang="en-US" sz="1020"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28" name="Text 26"/>
          <p:cNvSpPr/>
          <p:nvPr/>
        </p:nvSpPr>
        <p:spPr>
          <a:xfrm>
            <a:off x="7178040" y="3877056"/>
            <a:ext cx="2423160" cy="457200"/>
          </a:xfrm>
          <a:prstGeom prst="rect">
            <a:avLst/>
          </a:prstGeom>
          <a:noFill/>
        </p:spPr>
        <p:txBody>
          <a:bodyPr wrap="square" lIns="0" tIns="0" rIns="0" bIns="0" rtlCol="0" anchor="ctr">
            <a:normAutofit/>
          </a:bodyPr>
          <a:lstStyle/>
          <a:p>
            <a:pPr marL="0" indent="0">
              <a:buNone/>
            </a:pPr>
            <a:r>
              <a:rPr lang="en-US" sz="1020" dirty="0">
                <a:solidFill>
                  <a:srgbClr val="0A0A0A"/>
                </a:solidFill>
                <a:latin typeface="Times New Roman" panose="02020603050405020304" charset="0"/>
                <a:ea typeface="Noto Sans CJK SC" pitchFamily="34" charset="-122"/>
                <a:cs typeface="Times New Roman" panose="02020603050405020304" charset="0"/>
              </a:rPr>
              <a:t>CaP-Bench / sim2real</a:t>
            </a:r>
            <a:endParaRPr lang="en-US" sz="1020"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29" name="Text 27"/>
          <p:cNvSpPr/>
          <p:nvPr/>
        </p:nvSpPr>
        <p:spPr>
          <a:xfrm>
            <a:off x="9646920" y="3877056"/>
            <a:ext cx="2148840" cy="457200"/>
          </a:xfrm>
          <a:prstGeom prst="rect">
            <a:avLst/>
          </a:prstGeom>
          <a:noFill/>
        </p:spPr>
        <p:txBody>
          <a:bodyPr wrap="square" lIns="0" tIns="0" rIns="0" bIns="0" rtlCol="0" anchor="ctr">
            <a:normAutofit/>
          </a:bodyPr>
          <a:lstStyle/>
          <a:p>
            <a:pPr marL="0" indent="0">
              <a:buNone/>
            </a:pPr>
            <a:r>
              <a:rPr lang="en-US" sz="1020" dirty="0">
                <a:solidFill>
                  <a:srgbClr val="0A0A0A"/>
                </a:solidFill>
                <a:latin typeface="Times New Roman" panose="02020603050405020304" charset="0"/>
                <a:ea typeface="Noto Sans CJK SC" pitchFamily="34" charset="-122"/>
                <a:cs typeface="Noto Sans CJK SC" pitchFamily="34" charset="-120"/>
              </a:rPr>
              <a:t>研究平台</a:t>
            </a:r>
            <a:endParaRPr lang="en-US" sz="1020" dirty="0">
              <a:solidFill>
                <a:srgbClr val="0A0A0A"/>
              </a:solidFill>
              <a:latin typeface="Times New Roman" panose="02020603050405020304" charset="0"/>
              <a:ea typeface="Noto Sans CJK SC" pitchFamily="34" charset="-122"/>
              <a:cs typeface="Noto Sans CJK SC" pitchFamily="34" charset="-120"/>
            </a:endParaRPr>
          </a:p>
        </p:txBody>
      </p:sp>
      <p:sp>
        <p:nvSpPr>
          <p:cNvPr id="30" name="Shape 28"/>
          <p:cNvSpPr/>
          <p:nvPr/>
        </p:nvSpPr>
        <p:spPr>
          <a:xfrm>
            <a:off x="594360" y="4425696"/>
            <a:ext cx="10972800" cy="0"/>
          </a:xfrm>
          <a:prstGeom prst="line">
            <a:avLst/>
          </a:prstGeom>
          <a:noFill/>
          <a:ln w="4445">
            <a:solidFill>
              <a:srgbClr val="D6D9DC">
                <a:alpha val="75000"/>
              </a:srgbClr>
            </a:solidFill>
            <a:prstDash val="solid"/>
          </a:ln>
        </p:spPr>
      </p:sp>
      <p:sp>
        <p:nvSpPr>
          <p:cNvPr id="31" name="Text 29"/>
          <p:cNvSpPr/>
          <p:nvPr/>
        </p:nvSpPr>
        <p:spPr>
          <a:xfrm>
            <a:off x="594360" y="4590288"/>
            <a:ext cx="1874520" cy="457200"/>
          </a:xfrm>
          <a:prstGeom prst="rect">
            <a:avLst/>
          </a:prstGeom>
          <a:noFill/>
        </p:spPr>
        <p:txBody>
          <a:bodyPr wrap="square" lIns="0" tIns="0" rIns="0" bIns="0" rtlCol="0" anchor="ctr">
            <a:normAutofit/>
          </a:bodyPr>
          <a:lstStyle/>
          <a:p>
            <a:pPr marL="0" indent="0">
              <a:buNone/>
            </a:pPr>
            <a:r>
              <a:rPr lang="en-US" sz="1150" b="1" dirty="0">
                <a:solidFill>
                  <a:srgbClr val="0A0A0A"/>
                </a:solidFill>
                <a:latin typeface="Times New Roman" panose="02020603050405020304" charset="0"/>
                <a:ea typeface="Noto Sans CJK SC" pitchFamily="34" charset="-122"/>
                <a:cs typeface="Times New Roman" panose="02020603050405020304" charset="0"/>
              </a:rPr>
              <a:t>ASPIRE</a:t>
            </a:r>
            <a:endParaRPr lang="en-US" sz="115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32" name="Text 30"/>
          <p:cNvSpPr/>
          <p:nvPr/>
        </p:nvSpPr>
        <p:spPr>
          <a:xfrm>
            <a:off x="2514600" y="4590288"/>
            <a:ext cx="1920240" cy="457200"/>
          </a:xfrm>
          <a:prstGeom prst="rect">
            <a:avLst/>
          </a:prstGeom>
          <a:noFill/>
        </p:spPr>
        <p:txBody>
          <a:bodyPr wrap="square" lIns="0" tIns="0" rIns="0" bIns="0" rtlCol="0" anchor="ctr">
            <a:normAutofit/>
          </a:bodyPr>
          <a:lstStyle/>
          <a:p>
            <a:pPr marL="0" indent="0">
              <a:buNone/>
            </a:pPr>
            <a:r>
              <a:rPr lang="en-US" sz="1020" dirty="0">
                <a:solidFill>
                  <a:srgbClr val="002FA7"/>
                </a:solidFill>
                <a:latin typeface="Times New Roman" panose="02020603050405020304" charset="0"/>
                <a:ea typeface="Noto Sans CJK SC" pitchFamily="34" charset="-122"/>
                <a:cs typeface="Times New Roman" panose="02020603050405020304" charset="0"/>
              </a:rPr>
              <a:t>control program + skill library</a:t>
            </a:r>
            <a:endParaRPr lang="en-US" sz="1020" dirty="0">
              <a:solidFill>
                <a:srgbClr val="002FA7"/>
              </a:solidFill>
              <a:latin typeface="Times New Roman" panose="02020603050405020304" charset="0"/>
              <a:ea typeface="Noto Sans CJK SC" pitchFamily="34" charset="-122"/>
              <a:cs typeface="Times New Roman" panose="02020603050405020304" charset="0"/>
            </a:endParaRPr>
          </a:p>
        </p:txBody>
      </p:sp>
      <p:sp>
        <p:nvSpPr>
          <p:cNvPr id="33" name="Text 31"/>
          <p:cNvSpPr/>
          <p:nvPr/>
        </p:nvSpPr>
        <p:spPr>
          <a:xfrm>
            <a:off x="4480560" y="4590288"/>
            <a:ext cx="2651760" cy="457200"/>
          </a:xfrm>
          <a:prstGeom prst="rect">
            <a:avLst/>
          </a:prstGeom>
          <a:noFill/>
        </p:spPr>
        <p:txBody>
          <a:bodyPr wrap="square" lIns="0" tIns="0" rIns="0" bIns="0" rtlCol="0" anchor="ctr">
            <a:normAutofit/>
          </a:bodyPr>
          <a:lstStyle/>
          <a:p>
            <a:pPr marL="0" indent="0">
              <a:buNone/>
            </a:pPr>
            <a:r>
              <a:rPr lang="en-US" sz="1020" dirty="0">
                <a:solidFill>
                  <a:srgbClr val="0A0A0A"/>
                </a:solidFill>
                <a:latin typeface="Times New Roman" panose="02020603050405020304" charset="0"/>
                <a:ea typeface="Noto Sans CJK SC" pitchFamily="34" charset="-122"/>
                <a:cs typeface="Times New Roman" panose="02020603050405020304" charset="0"/>
              </a:rPr>
              <a:t>multimodal traces</a:t>
            </a:r>
            <a:endParaRPr lang="en-US" sz="1020"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34" name="Text 32"/>
          <p:cNvSpPr/>
          <p:nvPr/>
        </p:nvSpPr>
        <p:spPr>
          <a:xfrm>
            <a:off x="7178040" y="4590288"/>
            <a:ext cx="2423160" cy="457200"/>
          </a:xfrm>
          <a:prstGeom prst="rect">
            <a:avLst/>
          </a:prstGeom>
          <a:noFill/>
        </p:spPr>
        <p:txBody>
          <a:bodyPr wrap="square" lIns="0" tIns="0" rIns="0" bIns="0" rtlCol="0" anchor="ctr">
            <a:normAutofit/>
          </a:bodyPr>
          <a:lstStyle/>
          <a:p>
            <a:pPr marL="0" indent="0">
              <a:buNone/>
            </a:pPr>
            <a:r>
              <a:rPr lang="en-US" sz="1020" dirty="0">
                <a:solidFill>
                  <a:srgbClr val="0A0A0A"/>
                </a:solidFill>
                <a:latin typeface="Times New Roman" panose="02020603050405020304" charset="0"/>
                <a:ea typeface="Noto Sans CJK SC" pitchFamily="34" charset="-122"/>
                <a:cs typeface="Times New Roman" panose="02020603050405020304" charset="0"/>
              </a:rPr>
              <a:t>validated fixes / task success</a:t>
            </a:r>
            <a:endParaRPr lang="en-US" sz="1020"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35" name="Text 33"/>
          <p:cNvSpPr/>
          <p:nvPr/>
        </p:nvSpPr>
        <p:spPr>
          <a:xfrm>
            <a:off x="9646920" y="4590288"/>
            <a:ext cx="2148840" cy="457200"/>
          </a:xfrm>
          <a:prstGeom prst="rect">
            <a:avLst/>
          </a:prstGeom>
          <a:noFill/>
        </p:spPr>
        <p:txBody>
          <a:bodyPr wrap="square" lIns="0" tIns="0" rIns="0" bIns="0" rtlCol="0" anchor="ctr">
            <a:normAutofit/>
          </a:bodyPr>
          <a:lstStyle/>
          <a:p>
            <a:pPr marL="0" indent="0">
              <a:buNone/>
            </a:pPr>
            <a:r>
              <a:rPr lang="en-US" sz="1020" dirty="0">
                <a:solidFill>
                  <a:srgbClr val="0A0A0A"/>
                </a:solidFill>
                <a:latin typeface="Times New Roman" panose="02020603050405020304" charset="0"/>
                <a:ea typeface="Noto Sans CJK SC" pitchFamily="34" charset="-122"/>
                <a:cs typeface="Noto Sans CJK SC" pitchFamily="34" charset="-120"/>
              </a:rPr>
              <a:t>经验复用</a:t>
            </a:r>
            <a:endParaRPr lang="en-US" sz="1020" dirty="0">
              <a:solidFill>
                <a:srgbClr val="0A0A0A"/>
              </a:solidFill>
              <a:latin typeface="Times New Roman" panose="02020603050405020304" charset="0"/>
              <a:ea typeface="Noto Sans CJK SC" pitchFamily="34" charset="-122"/>
              <a:cs typeface="Noto Sans CJK SC" pitchFamily="34" charset="-120"/>
            </a:endParaRPr>
          </a:p>
        </p:txBody>
      </p:sp>
      <p:sp>
        <p:nvSpPr>
          <p:cNvPr id="36" name="Shape 34"/>
          <p:cNvSpPr/>
          <p:nvPr/>
        </p:nvSpPr>
        <p:spPr>
          <a:xfrm>
            <a:off x="594360" y="5138928"/>
            <a:ext cx="10972800" cy="0"/>
          </a:xfrm>
          <a:prstGeom prst="line">
            <a:avLst/>
          </a:prstGeom>
          <a:noFill/>
          <a:ln w="4445">
            <a:solidFill>
              <a:srgbClr val="D6D9DC">
                <a:alpha val="75000"/>
              </a:srgbClr>
            </a:solidFill>
            <a:prstDash val="solid"/>
          </a:ln>
        </p:spPr>
      </p:sp>
      <p:sp>
        <p:nvSpPr>
          <p:cNvPr id="37" name="Text 35"/>
          <p:cNvSpPr/>
          <p:nvPr/>
        </p:nvSpPr>
        <p:spPr>
          <a:xfrm>
            <a:off x="594360" y="5303520"/>
            <a:ext cx="1874520" cy="457200"/>
          </a:xfrm>
          <a:prstGeom prst="rect">
            <a:avLst/>
          </a:prstGeom>
          <a:noFill/>
        </p:spPr>
        <p:txBody>
          <a:bodyPr wrap="square" lIns="0" tIns="0" rIns="0" bIns="0" rtlCol="0" anchor="ctr">
            <a:normAutofit/>
          </a:bodyPr>
          <a:lstStyle/>
          <a:p>
            <a:pPr marL="0" indent="0">
              <a:buNone/>
            </a:pPr>
            <a:r>
              <a:rPr lang="en-US" sz="1150" b="1" dirty="0">
                <a:solidFill>
                  <a:srgbClr val="0A0A0A"/>
                </a:solidFill>
                <a:latin typeface="Times New Roman" panose="02020603050405020304" charset="0"/>
                <a:ea typeface="Noto Sans CJK SC" pitchFamily="34" charset="-122"/>
                <a:cs typeface="Times New Roman" panose="02020603050405020304" charset="0"/>
              </a:rPr>
              <a:t>ENPIRE</a:t>
            </a:r>
            <a:endParaRPr lang="en-US" sz="115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38" name="Text 36"/>
          <p:cNvSpPr/>
          <p:nvPr/>
        </p:nvSpPr>
        <p:spPr>
          <a:xfrm>
            <a:off x="2514600" y="5303520"/>
            <a:ext cx="1920240" cy="457200"/>
          </a:xfrm>
          <a:prstGeom prst="rect">
            <a:avLst/>
          </a:prstGeom>
          <a:noFill/>
        </p:spPr>
        <p:txBody>
          <a:bodyPr wrap="square" lIns="0" tIns="0" rIns="0" bIns="0" rtlCol="0" anchor="ctr">
            <a:normAutofit/>
          </a:bodyPr>
          <a:lstStyle/>
          <a:p>
            <a:pPr marL="0" indent="0">
              <a:buNone/>
            </a:pPr>
            <a:r>
              <a:rPr lang="en-US" sz="1020" dirty="0">
                <a:solidFill>
                  <a:srgbClr val="002FA7"/>
                </a:solidFill>
                <a:latin typeface="Times New Roman" panose="02020603050405020304" charset="0"/>
                <a:ea typeface="Noto Sans CJK SC" pitchFamily="34" charset="-122"/>
                <a:cs typeface="Times New Roman" panose="02020603050405020304" charset="0"/>
              </a:rPr>
              <a:t>training code / recipe / infra</a:t>
            </a:r>
            <a:endParaRPr lang="en-US" sz="1020" dirty="0">
              <a:solidFill>
                <a:srgbClr val="002FA7"/>
              </a:solidFill>
              <a:latin typeface="Times New Roman" panose="02020603050405020304" charset="0"/>
              <a:ea typeface="Noto Sans CJK SC" pitchFamily="34" charset="-122"/>
              <a:cs typeface="Times New Roman" panose="02020603050405020304" charset="0"/>
            </a:endParaRPr>
          </a:p>
        </p:txBody>
      </p:sp>
      <p:sp>
        <p:nvSpPr>
          <p:cNvPr id="39" name="Text 37"/>
          <p:cNvSpPr/>
          <p:nvPr/>
        </p:nvSpPr>
        <p:spPr>
          <a:xfrm>
            <a:off x="4480560" y="5303520"/>
            <a:ext cx="2651760" cy="457200"/>
          </a:xfrm>
          <a:prstGeom prst="rect">
            <a:avLst/>
          </a:prstGeom>
          <a:noFill/>
        </p:spPr>
        <p:txBody>
          <a:bodyPr wrap="square" lIns="0" tIns="0" rIns="0" bIns="0" rtlCol="0" anchor="ctr">
            <a:normAutofit/>
          </a:bodyPr>
          <a:lstStyle/>
          <a:p>
            <a:pPr marL="0" indent="0">
              <a:buNone/>
            </a:pPr>
            <a:r>
              <a:rPr lang="en-US" sz="1020" dirty="0">
                <a:solidFill>
                  <a:srgbClr val="0A0A0A"/>
                </a:solidFill>
                <a:latin typeface="Times New Roman" panose="02020603050405020304" charset="0"/>
                <a:ea typeface="Noto Sans CJK SC" pitchFamily="34" charset="-122"/>
                <a:cs typeface="Times New Roman" panose="02020603050405020304" charset="0"/>
              </a:rPr>
              <a:t>real robot rollouts + logs</a:t>
            </a:r>
            <a:endParaRPr lang="en-US" sz="1020"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40" name="Text 38"/>
          <p:cNvSpPr/>
          <p:nvPr/>
        </p:nvSpPr>
        <p:spPr>
          <a:xfrm>
            <a:off x="7178040" y="5303520"/>
            <a:ext cx="2423160" cy="457200"/>
          </a:xfrm>
          <a:prstGeom prst="rect">
            <a:avLst/>
          </a:prstGeom>
          <a:noFill/>
        </p:spPr>
        <p:txBody>
          <a:bodyPr wrap="square" lIns="0" tIns="0" rIns="0" bIns="0" rtlCol="0" anchor="ctr">
            <a:normAutofit/>
          </a:bodyPr>
          <a:lstStyle/>
          <a:p>
            <a:pPr marL="0" indent="0">
              <a:buNone/>
            </a:pPr>
            <a:r>
              <a:rPr lang="en-US" sz="1020" dirty="0">
                <a:solidFill>
                  <a:srgbClr val="0A0A0A"/>
                </a:solidFill>
                <a:latin typeface="Times New Roman" panose="02020603050405020304" charset="0"/>
                <a:ea typeface="Noto Sans CJK SC" pitchFamily="34" charset="-122"/>
                <a:cs typeface="Times New Roman" panose="02020603050405020304" charset="0"/>
              </a:rPr>
              <a:t>physical task success</a:t>
            </a:r>
            <a:endParaRPr lang="en-US" sz="1020"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41" name="Text 39"/>
          <p:cNvSpPr/>
          <p:nvPr/>
        </p:nvSpPr>
        <p:spPr>
          <a:xfrm>
            <a:off x="9646920" y="5303520"/>
            <a:ext cx="2148840" cy="457200"/>
          </a:xfrm>
          <a:prstGeom prst="rect">
            <a:avLst/>
          </a:prstGeom>
          <a:noFill/>
        </p:spPr>
        <p:txBody>
          <a:bodyPr wrap="square" lIns="0" tIns="0" rIns="0" bIns="0" rtlCol="0" anchor="ctr">
            <a:normAutofit/>
          </a:bodyPr>
          <a:lstStyle/>
          <a:p>
            <a:pPr marL="0" indent="0">
              <a:buNone/>
            </a:pPr>
            <a:r>
              <a:rPr lang="en-US" sz="1020" dirty="0">
                <a:solidFill>
                  <a:srgbClr val="0A0A0A"/>
                </a:solidFill>
                <a:latin typeface="Times New Roman" panose="02020603050405020304" charset="0"/>
                <a:ea typeface="Noto Sans CJK SC" pitchFamily="34" charset="-122"/>
                <a:cs typeface="Noto Sans CJK SC" pitchFamily="34" charset="-120"/>
              </a:rPr>
              <a:t>真实机器人自动算法工程</a:t>
            </a:r>
            <a:endParaRPr lang="en-US" sz="1020" dirty="0">
              <a:solidFill>
                <a:srgbClr val="0A0A0A"/>
              </a:solidFill>
              <a:latin typeface="Times New Roman" panose="02020603050405020304" charset="0"/>
              <a:ea typeface="Noto Sans CJK SC" pitchFamily="34" charset="-122"/>
              <a:cs typeface="Noto Sans CJK SC" pitchFamily="34" charset="-120"/>
            </a:endParaRPr>
          </a:p>
        </p:txBody>
      </p:sp>
      <p:sp>
        <p:nvSpPr>
          <p:cNvPr id="42" name="Shape 40"/>
          <p:cNvSpPr/>
          <p:nvPr/>
        </p:nvSpPr>
        <p:spPr>
          <a:xfrm>
            <a:off x="594360" y="5852160"/>
            <a:ext cx="10972800" cy="0"/>
          </a:xfrm>
          <a:prstGeom prst="line">
            <a:avLst/>
          </a:prstGeom>
          <a:noFill/>
          <a:ln w="4445">
            <a:solidFill>
              <a:srgbClr val="D6D9DC">
                <a:alpha val="75000"/>
              </a:srgbClr>
            </a:solidFill>
            <a:prstDash val="solid"/>
          </a:ln>
        </p:spPr>
      </p:sp>
      <p:sp>
        <p:nvSpPr>
          <p:cNvPr id="43" name="Text 41"/>
          <p:cNvSpPr/>
          <p:nvPr/>
        </p:nvSpPr>
        <p:spPr>
          <a:xfrm>
            <a:off x="438912" y="6455664"/>
            <a:ext cx="10424160" cy="201168"/>
          </a:xfrm>
          <a:prstGeom prst="rect">
            <a:avLst/>
          </a:prstGeom>
          <a:noFill/>
        </p:spPr>
        <p:txBody>
          <a:bodyPr wrap="square" lIns="0" tIns="0" rIns="0" bIns="0" rtlCol="0" anchor="ctr"/>
          <a:lstStyle/>
          <a:p>
            <a:pPr marL="0" indent="0">
              <a:buNone/>
            </a:pPr>
            <a:r>
              <a:rPr lang="en-US" sz="670" dirty="0">
                <a:solidFill>
                  <a:srgbClr val="6F767D"/>
                </a:solidFill>
                <a:latin typeface="Times New Roman" panose="02020603050405020304" charset="0"/>
                <a:ea typeface="JetBrains Mono" pitchFamily="34" charset="-122"/>
                <a:cs typeface="Times New Roman" panose="02020603050405020304" charset="0"/>
              </a:rPr>
              <a:t>可直接作为 PPT 的“总览表”：不要每篇都堆原图，先让听众知道优化对象。</a:t>
            </a:r>
            <a:endParaRPr lang="en-US" sz="670" dirty="0">
              <a:solidFill>
                <a:srgbClr val="6F767D"/>
              </a:solidFill>
              <a:latin typeface="Times New Roman" panose="02020603050405020304" charset="0"/>
              <a:ea typeface="JetBrains Mono" pitchFamily="34" charset="-122"/>
              <a:cs typeface="Times New Roman" panose="020206030504050203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411480" y="237744"/>
            <a:ext cx="6858000" cy="256032"/>
          </a:xfrm>
          <a:prstGeom prst="rect">
            <a:avLst/>
          </a:prstGeom>
          <a:noFill/>
        </p:spPr>
        <p:txBody>
          <a:bodyPr wrap="square" lIns="0" tIns="0" rIns="0" bIns="0" rtlCol="0" anchor="ctr"/>
          <a:lstStyle/>
          <a:p>
            <a:pPr marL="0" indent="0">
              <a:buNone/>
            </a:pPr>
            <a:r>
              <a:rPr lang="en-US" sz="750" b="1" dirty="0">
                <a:solidFill>
                  <a:srgbClr val="6F767D"/>
                </a:solidFill>
                <a:latin typeface="Times New Roman" panose="02020603050405020304" charset="0"/>
                <a:ea typeface="JetBrains Mono" pitchFamily="34" charset="-122"/>
                <a:cs typeface="Times New Roman" panose="02020603050405020304" charset="0"/>
              </a:rPr>
              <a:t>THESIS</a:t>
            </a:r>
            <a:endParaRPr lang="en-US" sz="750" b="1"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4" name="Shape 2"/>
          <p:cNvSpPr/>
          <p:nvPr/>
        </p:nvSpPr>
        <p:spPr>
          <a:xfrm>
            <a:off x="411480" y="6382512"/>
            <a:ext cx="11365992" cy="0"/>
          </a:xfrm>
          <a:prstGeom prst="line">
            <a:avLst/>
          </a:prstGeom>
          <a:noFill/>
          <a:ln w="6350">
            <a:solidFill>
              <a:srgbClr val="D6D9DC"/>
            </a:solidFill>
            <a:prstDash val="solid"/>
          </a:ln>
        </p:spPr>
      </p:sp>
      <p:sp>
        <p:nvSpPr>
          <p:cNvPr id="5" name="Text 3"/>
          <p:cNvSpPr/>
          <p:nvPr/>
        </p:nvSpPr>
        <p:spPr>
          <a:xfrm>
            <a:off x="566928" y="960120"/>
            <a:ext cx="9966960" cy="1508760"/>
          </a:xfrm>
          <a:prstGeom prst="rect">
            <a:avLst/>
          </a:prstGeom>
          <a:noFill/>
        </p:spPr>
        <p:txBody>
          <a:bodyPr wrap="square" lIns="0" tIns="0" rIns="0" bIns="0" rtlCol="0" anchor="ctr">
            <a:normAutofit/>
          </a:bodyPr>
          <a:lstStyle/>
          <a:p>
            <a:pPr marL="0" indent="0">
              <a:buNone/>
            </a:pPr>
            <a:r>
              <a:rPr lang="zh-CN" altLang="en-US" sz="4300" dirty="0">
                <a:solidFill>
                  <a:srgbClr val="0A0A0A"/>
                </a:solidFill>
                <a:latin typeface="Times New Roman" panose="02020603050405020304" charset="0"/>
                <a:ea typeface="Noto Sans CJK SC" pitchFamily="34" charset="-122"/>
                <a:cs typeface="Times New Roman" panose="02020603050405020304" charset="0"/>
              </a:rPr>
              <a:t>未来</a:t>
            </a:r>
            <a:r>
              <a:rPr lang="en-US" altLang="zh-CN" sz="4300" dirty="0">
                <a:solidFill>
                  <a:srgbClr val="0A0A0A"/>
                </a:solidFill>
                <a:latin typeface="Times New Roman" panose="02020603050405020304" charset="0"/>
                <a:ea typeface="Noto Sans CJK SC" pitchFamily="34" charset="-122"/>
                <a:cs typeface="Times New Roman" panose="02020603050405020304" charset="0"/>
              </a:rPr>
              <a:t>CAP</a:t>
            </a:r>
            <a:r>
              <a:rPr lang="en-US" sz="4300" dirty="0">
                <a:solidFill>
                  <a:srgbClr val="0A0A0A"/>
                </a:solidFill>
                <a:latin typeface="Times New Roman" panose="02020603050405020304" charset="0"/>
                <a:ea typeface="Noto Sans CJK SC" pitchFamily="34" charset="-122"/>
                <a:cs typeface="Times New Roman" panose="02020603050405020304" charset="0"/>
              </a:rPr>
              <a:t>主线不</a:t>
            </a:r>
            <a:r>
              <a:rPr lang="zh-CN" altLang="en-US" sz="4300" dirty="0">
                <a:solidFill>
                  <a:srgbClr val="0A0A0A"/>
                </a:solidFill>
                <a:latin typeface="Times New Roman" panose="02020603050405020304" charset="0"/>
                <a:ea typeface="Noto Sans CJK SC" pitchFamily="34" charset="-122"/>
                <a:cs typeface="Times New Roman" panose="02020603050405020304" charset="0"/>
              </a:rPr>
              <a:t>仅仅</a:t>
            </a:r>
            <a:r>
              <a:rPr lang="en-US" sz="4300" dirty="0">
                <a:solidFill>
                  <a:srgbClr val="0A0A0A"/>
                </a:solidFill>
                <a:latin typeface="Times New Roman" panose="02020603050405020304" charset="0"/>
                <a:ea typeface="Noto Sans CJK SC" pitchFamily="34" charset="-122"/>
                <a:cs typeface="Times New Roman" panose="02020603050405020304" charset="0"/>
              </a:rPr>
              <a:t>是“会写代码”</a:t>
            </a:r>
            <a:endParaRPr lang="en-US" sz="4300" dirty="0">
              <a:latin typeface="Times New Roman" panose="02020603050405020304" charset="0"/>
              <a:cs typeface="Times New Roman" panose="02020603050405020304" charset="0"/>
            </a:endParaRPr>
          </a:p>
          <a:p>
            <a:pPr marL="0" indent="0">
              <a:buNone/>
            </a:pPr>
            <a:r>
              <a:rPr lang="zh-CN" altLang="en-US" sz="4300" dirty="0">
                <a:solidFill>
                  <a:srgbClr val="0A0A0A"/>
                </a:solidFill>
                <a:latin typeface="Times New Roman" panose="02020603050405020304" charset="0"/>
                <a:ea typeface="Noto Sans CJK SC" pitchFamily="34" charset="-122"/>
                <a:cs typeface="Times New Roman" panose="02020603050405020304" charset="0"/>
              </a:rPr>
              <a:t>更</a:t>
            </a:r>
            <a:r>
              <a:rPr lang="en-US" sz="4300" dirty="0">
                <a:solidFill>
                  <a:srgbClr val="0A0A0A"/>
                </a:solidFill>
                <a:latin typeface="Times New Roman" panose="02020603050405020304" charset="0"/>
                <a:ea typeface="Noto Sans CJK SC" pitchFamily="34" charset="-122"/>
                <a:cs typeface="Times New Roman" panose="02020603050405020304" charset="0"/>
              </a:rPr>
              <a:t>是“代码成为可进化状态”</a:t>
            </a:r>
            <a:endParaRPr lang="en-US" sz="4300" dirty="0">
              <a:latin typeface="Times New Roman" panose="02020603050405020304" charset="0"/>
              <a:cs typeface="Times New Roman" panose="02020603050405020304" charset="0"/>
            </a:endParaRPr>
          </a:p>
        </p:txBody>
      </p:sp>
      <p:sp>
        <p:nvSpPr>
          <p:cNvPr id="6" name="Text 4"/>
          <p:cNvSpPr/>
          <p:nvPr/>
        </p:nvSpPr>
        <p:spPr>
          <a:xfrm>
            <a:off x="594360" y="2587752"/>
            <a:ext cx="7315200" cy="502920"/>
          </a:xfrm>
          <a:prstGeom prst="rect">
            <a:avLst/>
          </a:prstGeom>
          <a:noFill/>
        </p:spPr>
        <p:txBody>
          <a:bodyPr wrap="square" lIns="0" tIns="0" rIns="0" bIns="0" rtlCol="0" anchor="ctr">
            <a:normAutofit/>
          </a:bodyPr>
          <a:lstStyle/>
          <a:p>
            <a:pPr marL="0" indent="0">
              <a:buNone/>
            </a:pPr>
            <a:r>
              <a:rPr lang="en-US" sz="1600" dirty="0">
                <a:solidFill>
                  <a:srgbClr val="6F767D"/>
                </a:solidFill>
                <a:latin typeface="Times New Roman" panose="02020603050405020304" charset="0"/>
                <a:ea typeface="Noto Sans CJK SC" pitchFamily="34" charset="-122"/>
                <a:cs typeface="Times New Roman" panose="02020603050405020304" charset="0"/>
              </a:rPr>
              <a:t>把这些论文放到一条线上，会清楚很多：从一次性生成 policy，到闭环搜索，再到经验积累与真实机器人自改进。</a:t>
            </a:r>
            <a:endParaRPr lang="en-US" sz="1600" dirty="0">
              <a:solidFill>
                <a:srgbClr val="6F767D"/>
              </a:solidFill>
              <a:latin typeface="Times New Roman" panose="02020603050405020304" charset="0"/>
              <a:ea typeface="Noto Sans CJK SC" pitchFamily="34" charset="-122"/>
              <a:cs typeface="Times New Roman" panose="02020603050405020304" charset="0"/>
            </a:endParaRPr>
          </a:p>
        </p:txBody>
      </p:sp>
      <p:sp>
        <p:nvSpPr>
          <p:cNvPr id="7" name="Shape 5"/>
          <p:cNvSpPr/>
          <p:nvPr/>
        </p:nvSpPr>
        <p:spPr>
          <a:xfrm>
            <a:off x="731520" y="3794760"/>
            <a:ext cx="3063240" cy="1325880"/>
          </a:xfrm>
          <a:prstGeom prst="rect">
            <a:avLst/>
          </a:prstGeom>
          <a:solidFill>
            <a:srgbClr val="F0F1F0"/>
          </a:solidFill>
          <a:ln w="7620">
            <a:solidFill>
              <a:srgbClr val="D6D9DC"/>
            </a:solidFill>
            <a:prstDash val="solid"/>
          </a:ln>
        </p:spPr>
      </p:sp>
      <p:sp>
        <p:nvSpPr>
          <p:cNvPr id="8" name="Text 6"/>
          <p:cNvSpPr/>
          <p:nvPr/>
        </p:nvSpPr>
        <p:spPr>
          <a:xfrm>
            <a:off x="877824" y="3904488"/>
            <a:ext cx="2770632" cy="292608"/>
          </a:xfrm>
          <a:prstGeom prst="rect">
            <a:avLst/>
          </a:prstGeom>
          <a:noFill/>
        </p:spPr>
        <p:txBody>
          <a:bodyPr wrap="square" lIns="0" tIns="0" rIns="0" bIns="0" rtlCol="0" anchor="ctr">
            <a:normAutofit/>
          </a:bodyPr>
          <a:lstStyle/>
          <a:p>
            <a:pPr marL="0" indent="0">
              <a:buNone/>
            </a:pPr>
            <a:r>
              <a:rPr lang="en-US" sz="1500" b="1" dirty="0">
                <a:solidFill>
                  <a:srgbClr val="0A0A0A"/>
                </a:solidFill>
                <a:latin typeface="Times New Roman" panose="02020603050405020304" charset="0"/>
                <a:ea typeface="Noto Sans CJK SC" pitchFamily="34" charset="-122"/>
                <a:cs typeface="Times New Roman" panose="02020603050405020304" charset="0"/>
              </a:rPr>
              <a:t>1 · 代码化策略</a:t>
            </a:r>
            <a:endParaRPr lang="en-US" sz="150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9" name="Text 7"/>
          <p:cNvSpPr/>
          <p:nvPr/>
        </p:nvSpPr>
        <p:spPr>
          <a:xfrm>
            <a:off x="877824" y="4288536"/>
            <a:ext cx="2770632" cy="740664"/>
          </a:xfrm>
          <a:prstGeom prst="rect">
            <a:avLst/>
          </a:prstGeom>
          <a:noFill/>
        </p:spPr>
        <p:txBody>
          <a:bodyPr wrap="square" lIns="0" tIns="0" rIns="0" bIns="0" rtlCol="0" anchor="ctr">
            <a:normAutofit/>
          </a:bodyPr>
          <a:lstStyle/>
          <a:p>
            <a:pPr marL="0" indent="0">
              <a:buNone/>
            </a:pPr>
            <a:r>
              <a:rPr lang="en-US" sz="1100" dirty="0">
                <a:solidFill>
                  <a:srgbClr val="6F767D"/>
                </a:solidFill>
                <a:latin typeface="Times New Roman" panose="02020603050405020304" charset="0"/>
                <a:ea typeface="Noto Sans CJK SC" pitchFamily="34" charset="-122"/>
                <a:cs typeface="Times New Roman" panose="02020603050405020304" charset="0"/>
              </a:rPr>
              <a:t>LLM 输出 Python：处理感知、调用控制 API、组成反馈循环。</a:t>
            </a:r>
            <a:endParaRPr lang="en-US" sz="1100" dirty="0">
              <a:solidFill>
                <a:srgbClr val="6F767D"/>
              </a:solidFill>
              <a:latin typeface="Times New Roman" panose="02020603050405020304" charset="0"/>
              <a:ea typeface="Noto Sans CJK SC" pitchFamily="34" charset="-122"/>
              <a:cs typeface="Times New Roman" panose="02020603050405020304" charset="0"/>
            </a:endParaRPr>
          </a:p>
        </p:txBody>
      </p:sp>
      <p:sp>
        <p:nvSpPr>
          <p:cNvPr id="10" name="Shape 8"/>
          <p:cNvSpPr/>
          <p:nvPr/>
        </p:nvSpPr>
        <p:spPr>
          <a:xfrm>
            <a:off x="4526280" y="3794760"/>
            <a:ext cx="3063240" cy="1325880"/>
          </a:xfrm>
          <a:prstGeom prst="rect">
            <a:avLst/>
          </a:prstGeom>
          <a:solidFill>
            <a:srgbClr val="002FA7"/>
          </a:solidFill>
          <a:ln w="7620">
            <a:solidFill>
              <a:srgbClr val="002FA7"/>
            </a:solidFill>
            <a:prstDash val="solid"/>
          </a:ln>
        </p:spPr>
      </p:sp>
      <p:sp>
        <p:nvSpPr>
          <p:cNvPr id="11" name="Text 9"/>
          <p:cNvSpPr/>
          <p:nvPr/>
        </p:nvSpPr>
        <p:spPr>
          <a:xfrm>
            <a:off x="4672584" y="3904488"/>
            <a:ext cx="2770632" cy="292608"/>
          </a:xfrm>
          <a:prstGeom prst="rect">
            <a:avLst/>
          </a:prstGeom>
          <a:noFill/>
        </p:spPr>
        <p:txBody>
          <a:bodyPr wrap="square" lIns="0" tIns="0" rIns="0" bIns="0" rtlCol="0" anchor="ctr">
            <a:normAutofit/>
          </a:bodyPr>
          <a:lstStyle/>
          <a:p>
            <a:pPr marL="0" indent="0">
              <a:buNone/>
            </a:pPr>
            <a:r>
              <a:rPr lang="en-US" sz="1500" b="1" dirty="0">
                <a:solidFill>
                  <a:srgbClr val="FFFFFF"/>
                </a:solidFill>
                <a:latin typeface="Times New Roman" panose="02020603050405020304" charset="0"/>
                <a:ea typeface="Noto Sans CJK SC" pitchFamily="34" charset="-122"/>
                <a:cs typeface="Times New Roman" panose="02020603050405020304" charset="0"/>
              </a:rPr>
              <a:t>2 · 闭环评测</a:t>
            </a:r>
            <a:endParaRPr lang="en-US" sz="1500" b="1" dirty="0">
              <a:solidFill>
                <a:srgbClr val="FFFFFF"/>
              </a:solidFill>
              <a:latin typeface="Times New Roman" panose="02020603050405020304" charset="0"/>
              <a:ea typeface="Noto Sans CJK SC" pitchFamily="34" charset="-122"/>
              <a:cs typeface="Times New Roman" panose="02020603050405020304" charset="0"/>
            </a:endParaRPr>
          </a:p>
        </p:txBody>
      </p:sp>
      <p:sp>
        <p:nvSpPr>
          <p:cNvPr id="12" name="Text 10"/>
          <p:cNvSpPr/>
          <p:nvPr/>
        </p:nvSpPr>
        <p:spPr>
          <a:xfrm>
            <a:off x="4672584" y="4288536"/>
            <a:ext cx="2770632" cy="740664"/>
          </a:xfrm>
          <a:prstGeom prst="rect">
            <a:avLst/>
          </a:prstGeom>
          <a:noFill/>
        </p:spPr>
        <p:txBody>
          <a:bodyPr wrap="square" lIns="0" tIns="0" rIns="0" bIns="0" rtlCol="0" anchor="ctr">
            <a:normAutofit/>
          </a:bodyPr>
          <a:lstStyle/>
          <a:p>
            <a:pPr marL="0" indent="0">
              <a:buNone/>
            </a:pPr>
            <a:r>
              <a:rPr lang="en-US" sz="1100" dirty="0">
                <a:solidFill>
                  <a:srgbClr val="E7EDFF"/>
                </a:solidFill>
                <a:latin typeface="Times New Roman" panose="02020603050405020304" charset="0"/>
                <a:ea typeface="Noto Sans CJK SC" pitchFamily="34" charset="-122"/>
                <a:cs typeface="Times New Roman" panose="02020603050405020304" charset="0"/>
              </a:rPr>
              <a:t>执行代码 → 观测轨迹/错误/奖励 → 给 agent 可验证反馈。</a:t>
            </a:r>
            <a:endParaRPr lang="en-US" sz="1100" dirty="0">
              <a:solidFill>
                <a:srgbClr val="E7EDFF"/>
              </a:solidFill>
              <a:latin typeface="Times New Roman" panose="02020603050405020304" charset="0"/>
              <a:ea typeface="Noto Sans CJK SC" pitchFamily="34" charset="-122"/>
              <a:cs typeface="Times New Roman" panose="02020603050405020304" charset="0"/>
            </a:endParaRPr>
          </a:p>
        </p:txBody>
      </p:sp>
      <p:sp>
        <p:nvSpPr>
          <p:cNvPr id="13" name="Shape 11"/>
          <p:cNvSpPr/>
          <p:nvPr/>
        </p:nvSpPr>
        <p:spPr>
          <a:xfrm>
            <a:off x="8321040" y="3794760"/>
            <a:ext cx="3063240" cy="1325880"/>
          </a:xfrm>
          <a:prstGeom prst="rect">
            <a:avLst/>
          </a:prstGeom>
          <a:solidFill>
            <a:srgbClr val="F0F1F0"/>
          </a:solidFill>
          <a:ln w="7620">
            <a:solidFill>
              <a:srgbClr val="D6D9DC"/>
            </a:solidFill>
            <a:prstDash val="solid"/>
          </a:ln>
        </p:spPr>
      </p:sp>
      <p:sp>
        <p:nvSpPr>
          <p:cNvPr id="14" name="Text 12"/>
          <p:cNvSpPr/>
          <p:nvPr/>
        </p:nvSpPr>
        <p:spPr>
          <a:xfrm>
            <a:off x="8467344" y="3904488"/>
            <a:ext cx="2770632" cy="292608"/>
          </a:xfrm>
          <a:prstGeom prst="rect">
            <a:avLst/>
          </a:prstGeom>
          <a:noFill/>
        </p:spPr>
        <p:txBody>
          <a:bodyPr wrap="square" lIns="0" tIns="0" rIns="0" bIns="0" rtlCol="0" anchor="ctr">
            <a:normAutofit/>
          </a:bodyPr>
          <a:lstStyle/>
          <a:p>
            <a:pPr marL="0" indent="0">
              <a:buNone/>
            </a:pPr>
            <a:r>
              <a:rPr lang="en-US" sz="1500" b="1" dirty="0">
                <a:solidFill>
                  <a:srgbClr val="0A0A0A"/>
                </a:solidFill>
                <a:latin typeface="Times New Roman" panose="02020603050405020304" charset="0"/>
                <a:ea typeface="Noto Sans CJK SC" pitchFamily="34" charset="-122"/>
                <a:cs typeface="Times New Roman" panose="02020603050405020304" charset="0"/>
              </a:rPr>
              <a:t>3 · 外部状态进化</a:t>
            </a:r>
            <a:endParaRPr lang="en-US" sz="150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15" name="Text 13"/>
          <p:cNvSpPr/>
          <p:nvPr/>
        </p:nvSpPr>
        <p:spPr>
          <a:xfrm>
            <a:off x="8467344" y="4288536"/>
            <a:ext cx="2770632" cy="740664"/>
          </a:xfrm>
          <a:prstGeom prst="rect">
            <a:avLst/>
          </a:prstGeom>
          <a:noFill/>
        </p:spPr>
        <p:txBody>
          <a:bodyPr wrap="square" lIns="0" tIns="0" rIns="0" bIns="0" rtlCol="0" anchor="ctr">
            <a:normAutofit/>
          </a:bodyPr>
          <a:lstStyle/>
          <a:p>
            <a:pPr marL="0" indent="0">
              <a:buNone/>
            </a:pPr>
            <a:r>
              <a:rPr lang="en-US" sz="1100" dirty="0">
                <a:solidFill>
                  <a:srgbClr val="6F767D"/>
                </a:solidFill>
                <a:latin typeface="Times New Roman" panose="02020603050405020304" charset="0"/>
                <a:ea typeface="Noto Sans CJK SC" pitchFamily="34" charset="-122"/>
                <a:cs typeface="Times New Roman" panose="02020603050405020304" charset="0"/>
              </a:rPr>
              <a:t>skill 文档、程序库、训练 recipe、git 分支都变成可搜索对象。</a:t>
            </a:r>
            <a:endParaRPr lang="en-US" sz="1100" dirty="0">
              <a:solidFill>
                <a:srgbClr val="6F767D"/>
              </a:solidFill>
              <a:latin typeface="Times New Roman" panose="02020603050405020304" charset="0"/>
              <a:ea typeface="Noto Sans CJK SC" pitchFamily="34" charset="-122"/>
              <a:cs typeface="Times New Roman" panose="02020603050405020304" charset="0"/>
            </a:endParaRPr>
          </a:p>
        </p:txBody>
      </p:sp>
      <p:sp>
        <p:nvSpPr>
          <p:cNvPr id="16" name="Shape 14"/>
          <p:cNvSpPr/>
          <p:nvPr/>
        </p:nvSpPr>
        <p:spPr>
          <a:xfrm>
            <a:off x="3822192" y="4453128"/>
            <a:ext cx="585216" cy="0"/>
          </a:xfrm>
          <a:prstGeom prst="line">
            <a:avLst/>
          </a:prstGeom>
          <a:noFill/>
          <a:ln w="12700">
            <a:solidFill>
              <a:srgbClr val="002FA7"/>
            </a:solidFill>
            <a:prstDash val="solid"/>
            <a:headEnd type="none"/>
            <a:tailEnd type="triangle"/>
          </a:ln>
        </p:spPr>
      </p:sp>
      <p:sp>
        <p:nvSpPr>
          <p:cNvPr id="17" name="Shape 15"/>
          <p:cNvSpPr/>
          <p:nvPr/>
        </p:nvSpPr>
        <p:spPr>
          <a:xfrm>
            <a:off x="7635240" y="4453128"/>
            <a:ext cx="576072" cy="0"/>
          </a:xfrm>
          <a:prstGeom prst="line">
            <a:avLst/>
          </a:prstGeom>
          <a:noFill/>
          <a:ln w="12700">
            <a:solidFill>
              <a:srgbClr val="002FA7"/>
            </a:solidFill>
            <a:prstDash val="solid"/>
            <a:headEnd type="none"/>
            <a:tailEnd type="triangle"/>
          </a:ln>
        </p:spPr>
      </p:sp>
      <p:sp>
        <p:nvSpPr>
          <p:cNvPr id="18" name="Text 16"/>
          <p:cNvSpPr/>
          <p:nvPr/>
        </p:nvSpPr>
        <p:spPr>
          <a:xfrm>
            <a:off x="438912" y="6455664"/>
            <a:ext cx="10424160" cy="201168"/>
          </a:xfrm>
          <a:prstGeom prst="rect">
            <a:avLst/>
          </a:prstGeom>
          <a:noFill/>
        </p:spPr>
        <p:txBody>
          <a:bodyPr wrap="square" lIns="0" tIns="0" rIns="0" bIns="0" rtlCol="0" anchor="ctr"/>
          <a:lstStyle/>
          <a:p>
            <a:pPr marL="0" indent="0">
              <a:buNone/>
            </a:pPr>
            <a:r>
              <a:rPr lang="en-US" sz="670" dirty="0">
                <a:solidFill>
                  <a:srgbClr val="6F767D"/>
                </a:solidFill>
                <a:latin typeface="Times New Roman" panose="02020603050405020304" charset="0"/>
                <a:ea typeface="JetBrains Mono" pitchFamily="34" charset="-122"/>
                <a:cs typeface="Times New Roman" panose="02020603050405020304" charset="0"/>
              </a:rPr>
              <a:t>PPT 叙事建议：先定义范式，再逐篇说明“优化对象”如何变化。</a:t>
            </a:r>
            <a:endParaRPr lang="en-US" sz="670" dirty="0">
              <a:solidFill>
                <a:srgbClr val="6F767D"/>
              </a:solidFill>
              <a:latin typeface="Times New Roman" panose="02020603050405020304" charset="0"/>
              <a:ea typeface="JetBrains Mono" pitchFamily="34" charset="-122"/>
              <a:cs typeface="Times New Roman" panose="020206030504050203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411480" y="237744"/>
            <a:ext cx="6858000" cy="256032"/>
          </a:xfrm>
          <a:prstGeom prst="rect">
            <a:avLst/>
          </a:prstGeom>
          <a:noFill/>
        </p:spPr>
        <p:txBody>
          <a:bodyPr wrap="square" lIns="0" tIns="0" rIns="0" bIns="0" rtlCol="0" anchor="ctr"/>
          <a:lstStyle/>
          <a:p>
            <a:pPr marL="0" indent="0">
              <a:buNone/>
            </a:pPr>
            <a:r>
              <a:rPr lang="en-US" sz="750" b="1" dirty="0">
                <a:solidFill>
                  <a:srgbClr val="6F767D"/>
                </a:solidFill>
                <a:latin typeface="Times New Roman" panose="02020603050405020304" charset="0"/>
                <a:ea typeface="JetBrains Mono" pitchFamily="34" charset="-122"/>
                <a:cs typeface="Times New Roman" panose="02020603050405020304" charset="0"/>
              </a:rPr>
              <a:t>UNIFIED VIEW</a:t>
            </a:r>
            <a:endParaRPr lang="en-US" sz="750" b="1"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4" name="Shape 2"/>
          <p:cNvSpPr/>
          <p:nvPr/>
        </p:nvSpPr>
        <p:spPr>
          <a:xfrm>
            <a:off x="411480" y="6382512"/>
            <a:ext cx="11365992" cy="0"/>
          </a:xfrm>
          <a:prstGeom prst="line">
            <a:avLst/>
          </a:prstGeom>
          <a:noFill/>
          <a:ln w="6350">
            <a:solidFill>
              <a:srgbClr val="D6D9DC"/>
            </a:solidFill>
            <a:prstDash val="solid"/>
          </a:ln>
        </p:spPr>
      </p:sp>
      <p:sp>
        <p:nvSpPr>
          <p:cNvPr id="5" name="Text 3"/>
          <p:cNvSpPr/>
          <p:nvPr/>
        </p:nvSpPr>
        <p:spPr>
          <a:xfrm>
            <a:off x="566928" y="749808"/>
            <a:ext cx="10881360" cy="548640"/>
          </a:xfrm>
          <a:prstGeom prst="rect">
            <a:avLst/>
          </a:prstGeom>
          <a:noFill/>
        </p:spPr>
        <p:txBody>
          <a:bodyPr wrap="square" lIns="0" tIns="0" rIns="0" bIns="0" rtlCol="0" anchor="ctr">
            <a:normAutofit/>
          </a:bodyPr>
          <a:lstStyle/>
          <a:p>
            <a:pPr marL="0" indent="0">
              <a:buNone/>
            </a:pPr>
            <a:r>
              <a:rPr lang="en-US" sz="3100" dirty="0">
                <a:solidFill>
                  <a:srgbClr val="0A0A0A"/>
                </a:solidFill>
                <a:latin typeface="Times New Roman" panose="02020603050405020304" charset="0"/>
                <a:ea typeface="Noto Sans CJK SC" pitchFamily="34" charset="-122"/>
                <a:cs typeface="Times New Roman" panose="02020603050405020304" charset="0"/>
              </a:rPr>
              <a:t>统一抽象：自进化就是优化外部 artifact z</a:t>
            </a:r>
            <a:endParaRPr lang="en-US" sz="3100"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6" name="Text 4"/>
          <p:cNvSpPr/>
          <p:nvPr/>
        </p:nvSpPr>
        <p:spPr>
          <a:xfrm>
            <a:off x="585216" y="1444752"/>
            <a:ext cx="10332720" cy="292608"/>
          </a:xfrm>
          <a:prstGeom prst="rect">
            <a:avLst/>
          </a:prstGeom>
          <a:noFill/>
        </p:spPr>
        <p:txBody>
          <a:bodyPr wrap="square" lIns="0" tIns="0" rIns="0" bIns="0" rtlCol="0" anchor="ctr"/>
          <a:lstStyle/>
          <a:p>
            <a:pPr marL="0" indent="0">
              <a:buNone/>
            </a:pPr>
            <a:r>
              <a:rPr lang="en-US" sz="1200" dirty="0">
                <a:solidFill>
                  <a:srgbClr val="6F767D"/>
                </a:solidFill>
                <a:latin typeface="Times New Roman" panose="02020603050405020304" charset="0"/>
                <a:ea typeface="Noto Sans CJK SC" pitchFamily="34" charset="-122"/>
                <a:cs typeface="Times New Roman" panose="02020603050405020304" charset="0"/>
              </a:rPr>
              <a:t>把这几篇 paper 统一起来，可以用一个很简单的闭环公式讲。</a:t>
            </a:r>
            <a:endParaRPr lang="en-US" sz="1200" dirty="0">
              <a:solidFill>
                <a:srgbClr val="6F767D"/>
              </a:solidFill>
              <a:latin typeface="Times New Roman" panose="02020603050405020304" charset="0"/>
              <a:ea typeface="Noto Sans CJK SC" pitchFamily="34" charset="-122"/>
              <a:cs typeface="Times New Roman" panose="02020603050405020304" charset="0"/>
            </a:endParaRPr>
          </a:p>
        </p:txBody>
      </p:sp>
      <p:sp>
        <p:nvSpPr>
          <p:cNvPr id="7" name="Text 5"/>
          <p:cNvSpPr/>
          <p:nvPr/>
        </p:nvSpPr>
        <p:spPr>
          <a:xfrm>
            <a:off x="960120" y="1901952"/>
            <a:ext cx="5166360" cy="640080"/>
          </a:xfrm>
          <a:prstGeom prst="rect">
            <a:avLst/>
          </a:prstGeom>
          <a:noFill/>
        </p:spPr>
        <p:txBody>
          <a:bodyPr wrap="square" lIns="0" tIns="0" rIns="0" bIns="0" rtlCol="0" anchor="ctr"/>
          <a:lstStyle/>
          <a:p>
            <a:pPr marL="0" indent="0">
              <a:buNone/>
            </a:pPr>
            <a:r>
              <a:rPr lang="en-US" sz="2900" b="1" dirty="0">
                <a:solidFill>
                  <a:srgbClr val="002FA7"/>
                </a:solidFill>
                <a:latin typeface="Times New Roman" panose="02020603050405020304" charset="0"/>
                <a:ea typeface="JetBrains Mono" pitchFamily="34" charset="-122"/>
                <a:cs typeface="Times New Roman" panose="02020603050405020304" charset="0"/>
              </a:rPr>
              <a:t>zₜ₊₁ = A(zₜ, τₜ, rₜ, logₜ)</a:t>
            </a:r>
            <a:endParaRPr lang="en-US" sz="2900" b="1" dirty="0">
              <a:solidFill>
                <a:srgbClr val="002FA7"/>
              </a:solidFill>
              <a:latin typeface="Times New Roman" panose="02020603050405020304" charset="0"/>
              <a:ea typeface="JetBrains Mono" pitchFamily="34" charset="-122"/>
              <a:cs typeface="Times New Roman" panose="02020603050405020304" charset="0"/>
            </a:endParaRPr>
          </a:p>
        </p:txBody>
      </p:sp>
      <p:sp>
        <p:nvSpPr>
          <p:cNvPr id="8" name="Text 6"/>
          <p:cNvSpPr/>
          <p:nvPr/>
        </p:nvSpPr>
        <p:spPr>
          <a:xfrm>
            <a:off x="960120" y="2788920"/>
            <a:ext cx="4617720" cy="1325880"/>
          </a:xfrm>
          <a:prstGeom prst="rect">
            <a:avLst/>
          </a:prstGeom>
          <a:noFill/>
        </p:spPr>
        <p:txBody>
          <a:bodyPr wrap="square" lIns="0" tIns="0" rIns="0" bIns="0" rtlCol="0" anchor="t">
            <a:normAutofit/>
          </a:bodyPr>
          <a:lstStyle/>
          <a:p>
            <a:pPr marL="0" indent="0">
              <a:buNone/>
            </a:pPr>
            <a:r>
              <a:rPr lang="en-US" sz="1600" dirty="0">
                <a:solidFill>
                  <a:srgbClr val="0A0A0A"/>
                </a:solidFill>
                <a:latin typeface="Times New Roman" panose="02020603050405020304" charset="0"/>
                <a:ea typeface="Noto Sans CJK SC" pitchFamily="34" charset="-122"/>
                <a:cs typeface="Times New Roman" panose="02020603050405020304" charset="0"/>
              </a:rPr>
              <a:t>其中 z 可以是 skill 文档、policy.py、skill library、training recipe 或 git 分支；τ 是 rollout 轨迹；r 是验证信号；log 是错误、视觉差分、robot trace、训练曲线等可诊断证据。</a:t>
            </a:r>
            <a:endParaRPr lang="en-US" sz="1600"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9" name="Shape 7"/>
          <p:cNvSpPr/>
          <p:nvPr/>
        </p:nvSpPr>
        <p:spPr>
          <a:xfrm>
            <a:off x="7086600" y="2240280"/>
            <a:ext cx="1645920" cy="777240"/>
          </a:xfrm>
          <a:prstGeom prst="rect">
            <a:avLst/>
          </a:prstGeom>
          <a:solidFill>
            <a:srgbClr val="002FA7"/>
          </a:solidFill>
          <a:ln w="7620">
            <a:solidFill>
              <a:srgbClr val="002FA7"/>
            </a:solidFill>
            <a:prstDash val="solid"/>
          </a:ln>
        </p:spPr>
      </p:sp>
      <p:sp>
        <p:nvSpPr>
          <p:cNvPr id="10" name="Text 8"/>
          <p:cNvSpPr/>
          <p:nvPr/>
        </p:nvSpPr>
        <p:spPr>
          <a:xfrm>
            <a:off x="7232904" y="2350008"/>
            <a:ext cx="1353312" cy="292608"/>
          </a:xfrm>
          <a:prstGeom prst="rect">
            <a:avLst/>
          </a:prstGeom>
          <a:noFill/>
        </p:spPr>
        <p:txBody>
          <a:bodyPr wrap="square" lIns="0" tIns="0" rIns="0" bIns="0" rtlCol="0" anchor="ctr">
            <a:normAutofit/>
          </a:bodyPr>
          <a:lstStyle/>
          <a:p>
            <a:pPr marL="0" indent="0">
              <a:buNone/>
            </a:pPr>
            <a:r>
              <a:rPr lang="en-US" sz="1400" b="1" dirty="0">
                <a:solidFill>
                  <a:srgbClr val="FFFFFF"/>
                </a:solidFill>
                <a:latin typeface="Times New Roman" panose="02020603050405020304" charset="0"/>
                <a:ea typeface="Noto Sans CJK SC" pitchFamily="34" charset="-122"/>
                <a:cs typeface="Times New Roman" panose="02020603050405020304" charset="0"/>
              </a:rPr>
              <a:t>Agent A</a:t>
            </a:r>
            <a:endParaRPr lang="en-US" sz="1400" b="1" dirty="0">
              <a:solidFill>
                <a:srgbClr val="FFFFFF"/>
              </a:solidFill>
              <a:latin typeface="Times New Roman" panose="02020603050405020304" charset="0"/>
              <a:ea typeface="Noto Sans CJK SC" pitchFamily="34" charset="-122"/>
              <a:cs typeface="Times New Roman" panose="02020603050405020304" charset="0"/>
            </a:endParaRPr>
          </a:p>
        </p:txBody>
      </p:sp>
      <p:sp>
        <p:nvSpPr>
          <p:cNvPr id="11" name="Text 9"/>
          <p:cNvSpPr/>
          <p:nvPr/>
        </p:nvSpPr>
        <p:spPr>
          <a:xfrm>
            <a:off x="7232904" y="2734056"/>
            <a:ext cx="1353312" cy="192024"/>
          </a:xfrm>
          <a:prstGeom prst="rect">
            <a:avLst/>
          </a:prstGeom>
          <a:noFill/>
        </p:spPr>
        <p:txBody>
          <a:bodyPr wrap="square" lIns="0" tIns="0" rIns="0" bIns="0" rtlCol="0" anchor="ctr">
            <a:normAutofit/>
          </a:bodyPr>
          <a:lstStyle/>
          <a:p>
            <a:pPr marL="0" indent="0">
              <a:buNone/>
            </a:pPr>
            <a:r>
              <a:rPr lang="en-US" sz="950" dirty="0">
                <a:solidFill>
                  <a:srgbClr val="E7EDFF"/>
                </a:solidFill>
                <a:latin typeface="Times New Roman" panose="02020603050405020304" charset="0"/>
                <a:ea typeface="Noto Sans CJK SC" pitchFamily="34" charset="-122"/>
                <a:cs typeface="Times New Roman" panose="02020603050405020304" charset="0"/>
              </a:rPr>
              <a:t>LLM / VLM coding agent</a:t>
            </a:r>
            <a:endParaRPr lang="en-US" sz="950" dirty="0">
              <a:solidFill>
                <a:srgbClr val="E7EDFF"/>
              </a:solidFill>
              <a:latin typeface="Times New Roman" panose="02020603050405020304" charset="0"/>
              <a:ea typeface="Noto Sans CJK SC" pitchFamily="34" charset="-122"/>
              <a:cs typeface="Times New Roman" panose="02020603050405020304" charset="0"/>
            </a:endParaRPr>
          </a:p>
        </p:txBody>
      </p:sp>
      <p:sp>
        <p:nvSpPr>
          <p:cNvPr id="12" name="Shape 10"/>
          <p:cNvSpPr/>
          <p:nvPr/>
        </p:nvSpPr>
        <p:spPr>
          <a:xfrm>
            <a:off x="9464040" y="2240280"/>
            <a:ext cx="1828800" cy="777240"/>
          </a:xfrm>
          <a:prstGeom prst="rect">
            <a:avLst/>
          </a:prstGeom>
          <a:solidFill>
            <a:srgbClr val="F0F1F0"/>
          </a:solidFill>
          <a:ln w="7620">
            <a:solidFill>
              <a:srgbClr val="D6D9DC"/>
            </a:solidFill>
            <a:prstDash val="solid"/>
          </a:ln>
        </p:spPr>
      </p:sp>
      <p:sp>
        <p:nvSpPr>
          <p:cNvPr id="13" name="Text 11"/>
          <p:cNvSpPr/>
          <p:nvPr/>
        </p:nvSpPr>
        <p:spPr>
          <a:xfrm>
            <a:off x="9610344" y="2350008"/>
            <a:ext cx="1536192" cy="292608"/>
          </a:xfrm>
          <a:prstGeom prst="rect">
            <a:avLst/>
          </a:prstGeom>
          <a:noFill/>
        </p:spPr>
        <p:txBody>
          <a:bodyPr wrap="square" lIns="0" tIns="0" rIns="0" bIns="0" rtlCol="0" anchor="ctr">
            <a:normAutofit/>
          </a:bodyPr>
          <a:lstStyle/>
          <a:p>
            <a:pPr marL="0" indent="0">
              <a:buNone/>
            </a:pPr>
            <a:r>
              <a:rPr lang="en-US" sz="1400" b="1" dirty="0">
                <a:solidFill>
                  <a:srgbClr val="0A0A0A"/>
                </a:solidFill>
                <a:latin typeface="Times New Roman" panose="02020603050405020304" charset="0"/>
                <a:ea typeface="Noto Sans CJK SC" pitchFamily="34" charset="-122"/>
                <a:cs typeface="Times New Roman" panose="02020603050405020304" charset="0"/>
              </a:rPr>
              <a:t>Artifact z</a:t>
            </a:r>
            <a:endParaRPr lang="en-US" sz="140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14" name="Text 12"/>
          <p:cNvSpPr/>
          <p:nvPr/>
        </p:nvSpPr>
        <p:spPr>
          <a:xfrm>
            <a:off x="9610344" y="2734056"/>
            <a:ext cx="1536192" cy="192024"/>
          </a:xfrm>
          <a:prstGeom prst="rect">
            <a:avLst/>
          </a:prstGeom>
          <a:noFill/>
        </p:spPr>
        <p:txBody>
          <a:bodyPr wrap="square" lIns="0" tIns="0" rIns="0" bIns="0" rtlCol="0" anchor="ctr">
            <a:normAutofit/>
          </a:bodyPr>
          <a:lstStyle/>
          <a:p>
            <a:pPr marL="0" indent="0">
              <a:buNone/>
            </a:pPr>
            <a:r>
              <a:rPr lang="en-US" sz="950" dirty="0">
                <a:solidFill>
                  <a:srgbClr val="6F767D"/>
                </a:solidFill>
                <a:latin typeface="Times New Roman" panose="02020603050405020304" charset="0"/>
                <a:ea typeface="Noto Sans CJK SC" pitchFamily="34" charset="-122"/>
                <a:cs typeface="Times New Roman" panose="02020603050405020304" charset="0"/>
              </a:rPr>
              <a:t>skill / code / recipe / library</a:t>
            </a:r>
            <a:endParaRPr lang="en-US" sz="950" dirty="0">
              <a:solidFill>
                <a:srgbClr val="6F767D"/>
              </a:solidFill>
              <a:latin typeface="Times New Roman" panose="02020603050405020304" charset="0"/>
              <a:ea typeface="Noto Sans CJK SC" pitchFamily="34" charset="-122"/>
              <a:cs typeface="Times New Roman" panose="02020603050405020304" charset="0"/>
            </a:endParaRPr>
          </a:p>
        </p:txBody>
      </p:sp>
      <p:sp>
        <p:nvSpPr>
          <p:cNvPr id="15" name="Shape 13"/>
          <p:cNvSpPr/>
          <p:nvPr/>
        </p:nvSpPr>
        <p:spPr>
          <a:xfrm>
            <a:off x="9464040" y="4160520"/>
            <a:ext cx="1828800" cy="777240"/>
          </a:xfrm>
          <a:prstGeom prst="rect">
            <a:avLst/>
          </a:prstGeom>
          <a:solidFill>
            <a:srgbClr val="F0F1F0"/>
          </a:solidFill>
          <a:ln w="7620">
            <a:solidFill>
              <a:srgbClr val="D6D9DC"/>
            </a:solidFill>
            <a:prstDash val="solid"/>
          </a:ln>
        </p:spPr>
      </p:sp>
      <p:sp>
        <p:nvSpPr>
          <p:cNvPr id="16" name="Text 14"/>
          <p:cNvSpPr/>
          <p:nvPr/>
        </p:nvSpPr>
        <p:spPr>
          <a:xfrm>
            <a:off x="9610344" y="4270248"/>
            <a:ext cx="1536192" cy="292608"/>
          </a:xfrm>
          <a:prstGeom prst="rect">
            <a:avLst/>
          </a:prstGeom>
          <a:noFill/>
        </p:spPr>
        <p:txBody>
          <a:bodyPr wrap="square" lIns="0" tIns="0" rIns="0" bIns="0" rtlCol="0" anchor="ctr">
            <a:normAutofit/>
          </a:bodyPr>
          <a:lstStyle/>
          <a:p>
            <a:pPr marL="0" indent="0">
              <a:buNone/>
            </a:pPr>
            <a:r>
              <a:rPr lang="en-US" sz="1400" b="1" dirty="0">
                <a:solidFill>
                  <a:srgbClr val="0A0A0A"/>
                </a:solidFill>
                <a:latin typeface="Times New Roman" panose="02020603050405020304" charset="0"/>
                <a:ea typeface="Noto Sans CJK SC" pitchFamily="34" charset="-122"/>
                <a:cs typeface="Times New Roman" panose="02020603050405020304" charset="0"/>
              </a:rPr>
              <a:t>Environment</a:t>
            </a:r>
            <a:endParaRPr lang="en-US" sz="140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17" name="Text 15"/>
          <p:cNvSpPr/>
          <p:nvPr/>
        </p:nvSpPr>
        <p:spPr>
          <a:xfrm>
            <a:off x="9610344" y="4654296"/>
            <a:ext cx="1536192" cy="192024"/>
          </a:xfrm>
          <a:prstGeom prst="rect">
            <a:avLst/>
          </a:prstGeom>
          <a:noFill/>
        </p:spPr>
        <p:txBody>
          <a:bodyPr wrap="square" lIns="0" tIns="0" rIns="0" bIns="0" rtlCol="0" anchor="ctr">
            <a:normAutofit/>
          </a:bodyPr>
          <a:lstStyle/>
          <a:p>
            <a:pPr marL="0" indent="0">
              <a:buNone/>
            </a:pPr>
            <a:r>
              <a:rPr lang="en-US" sz="950" dirty="0">
                <a:solidFill>
                  <a:srgbClr val="6F767D"/>
                </a:solidFill>
                <a:latin typeface="Times New Roman" panose="02020603050405020304" charset="0"/>
                <a:ea typeface="Noto Sans CJK SC" pitchFamily="34" charset="-122"/>
                <a:cs typeface="Times New Roman" panose="02020603050405020304" charset="0"/>
              </a:rPr>
              <a:t>simulator / benchmark / real robot</a:t>
            </a:r>
            <a:endParaRPr lang="en-US" sz="950" dirty="0">
              <a:solidFill>
                <a:srgbClr val="6F767D"/>
              </a:solidFill>
              <a:latin typeface="Times New Roman" panose="02020603050405020304" charset="0"/>
              <a:ea typeface="Noto Sans CJK SC" pitchFamily="34" charset="-122"/>
              <a:cs typeface="Times New Roman" panose="02020603050405020304" charset="0"/>
            </a:endParaRPr>
          </a:p>
        </p:txBody>
      </p:sp>
      <p:sp>
        <p:nvSpPr>
          <p:cNvPr id="18" name="Shape 16"/>
          <p:cNvSpPr/>
          <p:nvPr/>
        </p:nvSpPr>
        <p:spPr>
          <a:xfrm>
            <a:off x="7086600" y="4160520"/>
            <a:ext cx="1645920" cy="777240"/>
          </a:xfrm>
          <a:prstGeom prst="rect">
            <a:avLst/>
          </a:prstGeom>
          <a:solidFill>
            <a:srgbClr val="F0F1F0"/>
          </a:solidFill>
          <a:ln w="7620">
            <a:solidFill>
              <a:srgbClr val="D6D9DC"/>
            </a:solidFill>
            <a:prstDash val="solid"/>
          </a:ln>
        </p:spPr>
      </p:sp>
      <p:sp>
        <p:nvSpPr>
          <p:cNvPr id="19" name="Text 17"/>
          <p:cNvSpPr/>
          <p:nvPr/>
        </p:nvSpPr>
        <p:spPr>
          <a:xfrm>
            <a:off x="7232904" y="4270248"/>
            <a:ext cx="1353312" cy="292608"/>
          </a:xfrm>
          <a:prstGeom prst="rect">
            <a:avLst/>
          </a:prstGeom>
          <a:noFill/>
        </p:spPr>
        <p:txBody>
          <a:bodyPr wrap="square" lIns="0" tIns="0" rIns="0" bIns="0" rtlCol="0" anchor="ctr">
            <a:normAutofit/>
          </a:bodyPr>
          <a:lstStyle/>
          <a:p>
            <a:pPr marL="0" indent="0">
              <a:buNone/>
            </a:pPr>
            <a:r>
              <a:rPr lang="en-US" sz="1400" b="1" dirty="0">
                <a:solidFill>
                  <a:srgbClr val="0A0A0A"/>
                </a:solidFill>
                <a:latin typeface="Times New Roman" panose="02020603050405020304" charset="0"/>
                <a:ea typeface="Noto Sans CJK SC" pitchFamily="34" charset="-122"/>
                <a:cs typeface="Times New Roman" panose="02020603050405020304" charset="0"/>
              </a:rPr>
              <a:t>Verifier</a:t>
            </a:r>
            <a:endParaRPr lang="en-US" sz="140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20" name="Text 18"/>
          <p:cNvSpPr/>
          <p:nvPr/>
        </p:nvSpPr>
        <p:spPr>
          <a:xfrm>
            <a:off x="7232904" y="4654296"/>
            <a:ext cx="1353312" cy="192024"/>
          </a:xfrm>
          <a:prstGeom prst="rect">
            <a:avLst/>
          </a:prstGeom>
          <a:noFill/>
        </p:spPr>
        <p:txBody>
          <a:bodyPr wrap="square" lIns="0" tIns="0" rIns="0" bIns="0" rtlCol="0" anchor="ctr">
            <a:normAutofit/>
          </a:bodyPr>
          <a:lstStyle/>
          <a:p>
            <a:pPr marL="0" indent="0">
              <a:buNone/>
            </a:pPr>
            <a:r>
              <a:rPr lang="en-US" sz="950" dirty="0">
                <a:solidFill>
                  <a:srgbClr val="6F767D"/>
                </a:solidFill>
                <a:latin typeface="Times New Roman" panose="02020603050405020304" charset="0"/>
                <a:ea typeface="Noto Sans CJK SC" pitchFamily="34" charset="-122"/>
                <a:cs typeface="Times New Roman" panose="02020603050405020304" charset="0"/>
              </a:rPr>
              <a:t>reward / unit test / success detector</a:t>
            </a:r>
            <a:endParaRPr lang="en-US" sz="950" dirty="0">
              <a:solidFill>
                <a:srgbClr val="6F767D"/>
              </a:solidFill>
              <a:latin typeface="Times New Roman" panose="02020603050405020304" charset="0"/>
              <a:ea typeface="Noto Sans CJK SC" pitchFamily="34" charset="-122"/>
              <a:cs typeface="Times New Roman" panose="02020603050405020304" charset="0"/>
            </a:endParaRPr>
          </a:p>
        </p:txBody>
      </p:sp>
      <p:sp>
        <p:nvSpPr>
          <p:cNvPr id="21" name="Shape 19"/>
          <p:cNvSpPr/>
          <p:nvPr/>
        </p:nvSpPr>
        <p:spPr>
          <a:xfrm>
            <a:off x="8796528" y="2633472"/>
            <a:ext cx="576072" cy="0"/>
          </a:xfrm>
          <a:prstGeom prst="line">
            <a:avLst/>
          </a:prstGeom>
          <a:noFill/>
          <a:ln w="12700">
            <a:solidFill>
              <a:srgbClr val="002FA7"/>
            </a:solidFill>
            <a:prstDash val="solid"/>
            <a:headEnd type="none"/>
            <a:tailEnd type="triangle"/>
          </a:ln>
        </p:spPr>
      </p:sp>
      <p:sp>
        <p:nvSpPr>
          <p:cNvPr id="22" name="Shape 20"/>
          <p:cNvSpPr/>
          <p:nvPr/>
        </p:nvSpPr>
        <p:spPr>
          <a:xfrm>
            <a:off x="10378440" y="3063240"/>
            <a:ext cx="0" cy="1024128"/>
          </a:xfrm>
          <a:prstGeom prst="line">
            <a:avLst/>
          </a:prstGeom>
          <a:noFill/>
          <a:ln w="12700">
            <a:solidFill>
              <a:srgbClr val="002FA7"/>
            </a:solidFill>
            <a:prstDash val="solid"/>
            <a:headEnd type="none"/>
            <a:tailEnd type="triangle"/>
          </a:ln>
        </p:spPr>
      </p:sp>
      <p:sp>
        <p:nvSpPr>
          <p:cNvPr id="23" name="Shape 21"/>
          <p:cNvSpPr/>
          <p:nvPr/>
        </p:nvSpPr>
        <p:spPr>
          <a:xfrm>
            <a:off x="8796528" y="4544568"/>
            <a:ext cx="576072" cy="0"/>
          </a:xfrm>
          <a:prstGeom prst="line">
            <a:avLst/>
          </a:prstGeom>
          <a:noFill/>
          <a:ln w="12700">
            <a:solidFill>
              <a:srgbClr val="002FA7"/>
            </a:solidFill>
            <a:prstDash val="solid"/>
            <a:headEnd type="none"/>
            <a:tailEnd type="triangle"/>
          </a:ln>
        </p:spPr>
      </p:sp>
      <p:sp>
        <p:nvSpPr>
          <p:cNvPr id="24" name="Shape 22"/>
          <p:cNvSpPr/>
          <p:nvPr/>
        </p:nvSpPr>
        <p:spPr>
          <a:xfrm>
            <a:off x="7909560" y="3063240"/>
            <a:ext cx="0" cy="1024128"/>
          </a:xfrm>
          <a:prstGeom prst="line">
            <a:avLst/>
          </a:prstGeom>
          <a:noFill/>
          <a:ln w="12700">
            <a:solidFill>
              <a:srgbClr val="002FA7"/>
            </a:solidFill>
            <a:prstDash val="solid"/>
            <a:headEnd type="none"/>
            <a:tailEnd type="triangle"/>
          </a:ln>
        </p:spPr>
      </p:sp>
      <p:sp>
        <p:nvSpPr>
          <p:cNvPr id="25" name="Text 23"/>
          <p:cNvSpPr/>
          <p:nvPr/>
        </p:nvSpPr>
        <p:spPr>
          <a:xfrm>
            <a:off x="8183880" y="1847088"/>
            <a:ext cx="1234440" cy="301752"/>
          </a:xfrm>
          <a:prstGeom prst="rect">
            <a:avLst/>
          </a:prstGeom>
          <a:solidFill>
            <a:srgbClr val="002FA7"/>
          </a:solidFill>
          <a:ln w="6350">
            <a:solidFill>
              <a:srgbClr val="002FA7"/>
            </a:solidFill>
          </a:ln>
        </p:spPr>
        <p:txBody>
          <a:bodyPr wrap="square" lIns="254" tIns="254" rIns="254" bIns="254" rtlCol="0" anchor="ctr"/>
          <a:lstStyle/>
          <a:p>
            <a:pPr marL="0" indent="0" algn="ctr">
              <a:buNone/>
            </a:pPr>
            <a:r>
              <a:rPr lang="en-US" sz="800" b="1" dirty="0">
                <a:solidFill>
                  <a:srgbClr val="FFFFFF"/>
                </a:solidFill>
                <a:latin typeface="Times New Roman" panose="02020603050405020304" charset="0"/>
                <a:ea typeface="JetBrains Mono" pitchFamily="34" charset="-122"/>
                <a:cs typeface="Times New Roman" panose="02020603050405020304" charset="0"/>
              </a:rPr>
              <a:t>Generate</a:t>
            </a:r>
            <a:endParaRPr lang="en-US" sz="800" b="1" dirty="0">
              <a:solidFill>
                <a:srgbClr val="FFFFFF"/>
              </a:solidFill>
              <a:latin typeface="Times New Roman" panose="02020603050405020304" charset="0"/>
              <a:ea typeface="JetBrains Mono" pitchFamily="34" charset="-122"/>
              <a:cs typeface="Times New Roman" panose="02020603050405020304" charset="0"/>
            </a:endParaRPr>
          </a:p>
        </p:txBody>
      </p:sp>
      <p:sp>
        <p:nvSpPr>
          <p:cNvPr id="26" name="Text 24"/>
          <p:cNvSpPr/>
          <p:nvPr/>
        </p:nvSpPr>
        <p:spPr>
          <a:xfrm>
            <a:off x="10561320" y="3246120"/>
            <a:ext cx="1051560" cy="301752"/>
          </a:xfrm>
          <a:prstGeom prst="rect">
            <a:avLst/>
          </a:prstGeom>
          <a:solidFill>
            <a:srgbClr val="F0F1F0"/>
          </a:solidFill>
          <a:ln w="6350">
            <a:solidFill>
              <a:srgbClr val="D6D9DC"/>
            </a:solidFill>
          </a:ln>
        </p:spPr>
        <p:txBody>
          <a:bodyPr wrap="square" lIns="254" tIns="254" rIns="254" bIns="254" rtlCol="0" anchor="ctr"/>
          <a:lstStyle/>
          <a:p>
            <a:pPr marL="0" indent="0" algn="ctr">
              <a:buNone/>
            </a:pPr>
            <a:r>
              <a:rPr lang="en-US" sz="800" b="1" dirty="0">
                <a:solidFill>
                  <a:srgbClr val="0A0A0A"/>
                </a:solidFill>
                <a:latin typeface="Times New Roman" panose="02020603050405020304" charset="0"/>
                <a:ea typeface="JetBrains Mono" pitchFamily="34" charset="-122"/>
                <a:cs typeface="Times New Roman" panose="02020603050405020304" charset="0"/>
              </a:rPr>
              <a:t>Execute</a:t>
            </a:r>
            <a:endParaRPr lang="en-US" sz="800" b="1" dirty="0">
              <a:solidFill>
                <a:srgbClr val="0A0A0A"/>
              </a:solidFill>
              <a:latin typeface="Times New Roman" panose="02020603050405020304" charset="0"/>
              <a:ea typeface="JetBrains Mono" pitchFamily="34" charset="-122"/>
              <a:cs typeface="Times New Roman" panose="02020603050405020304" charset="0"/>
            </a:endParaRPr>
          </a:p>
        </p:txBody>
      </p:sp>
      <p:sp>
        <p:nvSpPr>
          <p:cNvPr id="27" name="Text 25"/>
          <p:cNvSpPr/>
          <p:nvPr/>
        </p:nvSpPr>
        <p:spPr>
          <a:xfrm>
            <a:off x="8183880" y="5010912"/>
            <a:ext cx="1005840" cy="301752"/>
          </a:xfrm>
          <a:prstGeom prst="rect">
            <a:avLst/>
          </a:prstGeom>
          <a:solidFill>
            <a:srgbClr val="F0F1F0"/>
          </a:solidFill>
          <a:ln w="6350">
            <a:solidFill>
              <a:srgbClr val="D6D9DC"/>
            </a:solidFill>
          </a:ln>
        </p:spPr>
        <p:txBody>
          <a:bodyPr wrap="square" lIns="254" tIns="254" rIns="254" bIns="254" rtlCol="0" anchor="ctr"/>
          <a:lstStyle/>
          <a:p>
            <a:pPr marL="0" indent="0" algn="ctr">
              <a:buNone/>
            </a:pPr>
            <a:r>
              <a:rPr lang="en-US" sz="800" b="1" dirty="0">
                <a:solidFill>
                  <a:srgbClr val="0A0A0A"/>
                </a:solidFill>
                <a:latin typeface="Times New Roman" panose="02020603050405020304" charset="0"/>
                <a:ea typeface="JetBrains Mono" pitchFamily="34" charset="-122"/>
                <a:cs typeface="Times New Roman" panose="02020603050405020304" charset="0"/>
              </a:rPr>
              <a:t>Score</a:t>
            </a:r>
            <a:endParaRPr lang="en-US" sz="800" b="1" dirty="0">
              <a:solidFill>
                <a:srgbClr val="0A0A0A"/>
              </a:solidFill>
              <a:latin typeface="Times New Roman" panose="02020603050405020304" charset="0"/>
              <a:ea typeface="JetBrains Mono" pitchFamily="34" charset="-122"/>
              <a:cs typeface="Times New Roman" panose="02020603050405020304" charset="0"/>
            </a:endParaRPr>
          </a:p>
        </p:txBody>
      </p:sp>
      <p:sp>
        <p:nvSpPr>
          <p:cNvPr id="28" name="Text 26"/>
          <p:cNvSpPr/>
          <p:nvPr/>
        </p:nvSpPr>
        <p:spPr>
          <a:xfrm>
            <a:off x="6537960" y="3246120"/>
            <a:ext cx="1005840" cy="301752"/>
          </a:xfrm>
          <a:prstGeom prst="rect">
            <a:avLst/>
          </a:prstGeom>
          <a:solidFill>
            <a:srgbClr val="F0F1F0"/>
          </a:solidFill>
          <a:ln w="6350">
            <a:solidFill>
              <a:srgbClr val="D6D9DC"/>
            </a:solidFill>
          </a:ln>
        </p:spPr>
        <p:txBody>
          <a:bodyPr wrap="square" lIns="254" tIns="254" rIns="254" bIns="254" rtlCol="0" anchor="ctr"/>
          <a:lstStyle/>
          <a:p>
            <a:pPr marL="0" indent="0" algn="ctr">
              <a:buNone/>
            </a:pPr>
            <a:r>
              <a:rPr lang="en-US" sz="800" b="1" dirty="0">
                <a:solidFill>
                  <a:srgbClr val="0A0A0A"/>
                </a:solidFill>
                <a:latin typeface="Times New Roman" panose="02020603050405020304" charset="0"/>
                <a:ea typeface="JetBrains Mono" pitchFamily="34" charset="-122"/>
                <a:cs typeface="Times New Roman" panose="02020603050405020304" charset="0"/>
              </a:rPr>
              <a:t>Edit</a:t>
            </a:r>
            <a:endParaRPr lang="en-US" sz="800" b="1" dirty="0">
              <a:solidFill>
                <a:srgbClr val="0A0A0A"/>
              </a:solidFill>
              <a:latin typeface="Times New Roman" panose="02020603050405020304" charset="0"/>
              <a:ea typeface="JetBrains Mono" pitchFamily="34" charset="-122"/>
              <a:cs typeface="Times New Roman" panose="02020603050405020304" charset="0"/>
            </a:endParaRPr>
          </a:p>
        </p:txBody>
      </p:sp>
      <p:sp>
        <p:nvSpPr>
          <p:cNvPr id="29" name="Text 27"/>
          <p:cNvSpPr/>
          <p:nvPr/>
        </p:nvSpPr>
        <p:spPr>
          <a:xfrm>
            <a:off x="438912" y="6455664"/>
            <a:ext cx="10424160" cy="201168"/>
          </a:xfrm>
          <a:prstGeom prst="rect">
            <a:avLst/>
          </a:prstGeom>
          <a:noFill/>
        </p:spPr>
        <p:txBody>
          <a:bodyPr wrap="square" lIns="0" tIns="0" rIns="0" bIns="0" rtlCol="0" anchor="ctr"/>
          <a:lstStyle/>
          <a:p>
            <a:pPr marL="0" indent="0">
              <a:buNone/>
            </a:pPr>
            <a:r>
              <a:rPr lang="en-US" sz="670" dirty="0">
                <a:solidFill>
                  <a:srgbClr val="6F767D"/>
                </a:solidFill>
                <a:latin typeface="Times New Roman" panose="02020603050405020304" charset="0"/>
                <a:ea typeface="JetBrains Mono" pitchFamily="34" charset="-122"/>
                <a:cs typeface="Times New Roman" panose="02020603050405020304" charset="0"/>
              </a:rPr>
              <a:t>这页可作为你自己后续工作的 method-story 起点。</a:t>
            </a:r>
            <a:endParaRPr lang="en-US" sz="670" dirty="0">
              <a:solidFill>
                <a:srgbClr val="6F767D"/>
              </a:solidFill>
              <a:latin typeface="Times New Roman" panose="02020603050405020304" charset="0"/>
              <a:ea typeface="JetBrains Mono" pitchFamily="34" charset="-122"/>
              <a:cs typeface="Times New Roman" panose="020206030504050203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411480" y="237744"/>
            <a:ext cx="6858000" cy="256032"/>
          </a:xfrm>
          <a:prstGeom prst="rect">
            <a:avLst/>
          </a:prstGeom>
          <a:noFill/>
        </p:spPr>
        <p:txBody>
          <a:bodyPr wrap="square" lIns="0" tIns="0" rIns="0" bIns="0" rtlCol="0" anchor="ctr"/>
          <a:lstStyle/>
          <a:p>
            <a:pPr marL="0" indent="0">
              <a:buNone/>
            </a:pPr>
            <a:r>
              <a:rPr lang="en-US" sz="750" b="1" dirty="0">
                <a:solidFill>
                  <a:srgbClr val="6F767D"/>
                </a:solidFill>
                <a:latin typeface="Times New Roman" panose="02020603050405020304" charset="0"/>
                <a:ea typeface="JetBrains Mono" pitchFamily="34" charset="-122"/>
                <a:cs typeface="Times New Roman" panose="02020603050405020304" charset="0"/>
              </a:rPr>
              <a:t>SOURCES</a:t>
            </a:r>
            <a:endParaRPr lang="en-US" sz="750" b="1"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3" name="Text 1"/>
          <p:cNvSpPr/>
          <p:nvPr/>
        </p:nvSpPr>
        <p:spPr>
          <a:xfrm>
            <a:off x="10561320" y="237744"/>
            <a:ext cx="1188720" cy="256032"/>
          </a:xfrm>
          <a:prstGeom prst="rect">
            <a:avLst/>
          </a:prstGeom>
          <a:noFill/>
        </p:spPr>
        <p:txBody>
          <a:bodyPr wrap="square" lIns="0" tIns="0" rIns="0" bIns="0" rtlCol="0" anchor="ctr"/>
          <a:lstStyle/>
          <a:p>
            <a:pPr marL="0" indent="0" algn="r">
              <a:buNone/>
            </a:pPr>
            <a:r>
              <a:rPr lang="en-US" sz="750" b="1" dirty="0">
                <a:solidFill>
                  <a:srgbClr val="6F767D"/>
                </a:solidFill>
                <a:latin typeface="Times New Roman" panose="02020603050405020304" charset="0"/>
                <a:ea typeface="JetBrains Mono" pitchFamily="34" charset="-122"/>
                <a:cs typeface="Times New Roman" panose="02020603050405020304" charset="0"/>
              </a:rPr>
              <a:t>16 / 16</a:t>
            </a:r>
            <a:endParaRPr lang="en-US" sz="750" b="1"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4" name="Shape 2"/>
          <p:cNvSpPr/>
          <p:nvPr/>
        </p:nvSpPr>
        <p:spPr>
          <a:xfrm>
            <a:off x="411480" y="6420612"/>
            <a:ext cx="11365992" cy="0"/>
          </a:xfrm>
          <a:prstGeom prst="line">
            <a:avLst/>
          </a:prstGeom>
          <a:noFill/>
          <a:ln w="6350">
            <a:solidFill>
              <a:srgbClr val="D6D9DC"/>
            </a:solidFill>
            <a:prstDash val="solid"/>
          </a:ln>
        </p:spPr>
      </p:sp>
      <p:sp>
        <p:nvSpPr>
          <p:cNvPr id="5" name="Text 3"/>
          <p:cNvSpPr/>
          <p:nvPr/>
        </p:nvSpPr>
        <p:spPr>
          <a:xfrm>
            <a:off x="566928" y="749808"/>
            <a:ext cx="10881360" cy="548640"/>
          </a:xfrm>
          <a:prstGeom prst="rect">
            <a:avLst/>
          </a:prstGeom>
          <a:noFill/>
        </p:spPr>
        <p:txBody>
          <a:bodyPr wrap="square" lIns="0" tIns="0" rIns="0" bIns="0" rtlCol="0" anchor="ctr">
            <a:normAutofit/>
          </a:bodyPr>
          <a:lstStyle/>
          <a:p>
            <a:pPr marL="0" indent="0">
              <a:buNone/>
            </a:pPr>
            <a:r>
              <a:rPr lang="en-US" sz="3100" dirty="0">
                <a:solidFill>
                  <a:srgbClr val="0A0A0A"/>
                </a:solidFill>
                <a:latin typeface="Times New Roman" panose="02020603050405020304" charset="0"/>
                <a:ea typeface="Noto Sans CJK SC" pitchFamily="34" charset="-122"/>
                <a:cs typeface="Noto Sans CJK SC" pitchFamily="34" charset="-120"/>
              </a:rPr>
              <a:t>参考论文与材料</a:t>
            </a:r>
            <a:endParaRPr lang="en-US" sz="3100" dirty="0">
              <a:solidFill>
                <a:srgbClr val="0A0A0A"/>
              </a:solidFill>
              <a:latin typeface="Times New Roman" panose="02020603050405020304" charset="0"/>
              <a:ea typeface="Noto Sans CJK SC" pitchFamily="34" charset="-122"/>
              <a:cs typeface="Noto Sans CJK SC" pitchFamily="34" charset="-120"/>
            </a:endParaRPr>
          </a:p>
        </p:txBody>
      </p:sp>
      <p:sp>
        <p:nvSpPr>
          <p:cNvPr id="7" name="Text 5"/>
          <p:cNvSpPr/>
          <p:nvPr/>
        </p:nvSpPr>
        <p:spPr>
          <a:xfrm>
            <a:off x="777240" y="1467612"/>
            <a:ext cx="8778240" cy="256032"/>
          </a:xfrm>
          <a:prstGeom prst="rect">
            <a:avLst/>
          </a:prstGeom>
          <a:noFill/>
        </p:spPr>
        <p:txBody>
          <a:bodyPr wrap="square" lIns="0" tIns="0" rIns="0" bIns="0" rtlCol="0" anchor="ctr">
            <a:normAutofit/>
          </a:bodyPr>
          <a:lstStyle/>
          <a:p>
            <a:pPr marL="0" indent="0">
              <a:buNone/>
            </a:pPr>
            <a:r>
              <a:rPr lang="en-US" sz="1320" b="1" dirty="0">
                <a:solidFill>
                  <a:srgbClr val="0A0A0A"/>
                </a:solidFill>
                <a:latin typeface="Times New Roman" panose="02020603050405020304" charset="0"/>
                <a:ea typeface="Noto Sans CJK SC" pitchFamily="34" charset="-122"/>
                <a:cs typeface="Times New Roman" panose="02020603050405020304" charset="0"/>
              </a:rPr>
              <a:t>Code as Policies: Language Model Programs for Embodied Control</a:t>
            </a:r>
            <a:endParaRPr lang="en-US" sz="132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8" name="Text 6"/>
          <p:cNvSpPr/>
          <p:nvPr/>
        </p:nvSpPr>
        <p:spPr>
          <a:xfrm>
            <a:off x="777240" y="1778508"/>
            <a:ext cx="9966960" cy="228600"/>
          </a:xfrm>
          <a:prstGeom prst="rect">
            <a:avLst/>
          </a:prstGeom>
          <a:noFill/>
        </p:spPr>
        <p:txBody>
          <a:bodyPr wrap="square" lIns="0" tIns="0" rIns="0" bIns="0" rtlCol="0" anchor="ctr">
            <a:normAutofit/>
          </a:bodyPr>
          <a:lstStyle/>
          <a:p>
            <a:pPr marL="0" indent="0">
              <a:buNone/>
            </a:pPr>
            <a:r>
              <a:rPr lang="en-US" sz="840" dirty="0">
                <a:solidFill>
                  <a:srgbClr val="6F767D"/>
                </a:solidFill>
                <a:latin typeface="Times New Roman" panose="02020603050405020304" charset="0"/>
                <a:ea typeface="JetBrains Mono" pitchFamily="34" charset="-122"/>
                <a:cs typeface="Times New Roman" panose="02020603050405020304" charset="0"/>
              </a:rPr>
              <a:t>Liang et al., arXiv:2209.07753, submitted 2022-09-16</a:t>
            </a:r>
            <a:endParaRPr lang="en-US" sz="840"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9" name="Shape 7"/>
          <p:cNvSpPr/>
          <p:nvPr/>
        </p:nvSpPr>
        <p:spPr>
          <a:xfrm>
            <a:off x="777240" y="2125980"/>
            <a:ext cx="10607040" cy="0"/>
          </a:xfrm>
          <a:prstGeom prst="line">
            <a:avLst/>
          </a:prstGeom>
          <a:noFill/>
          <a:ln w="4445">
            <a:solidFill>
              <a:srgbClr val="D6D9DC"/>
            </a:solidFill>
            <a:prstDash val="solid"/>
          </a:ln>
        </p:spPr>
      </p:sp>
      <p:sp>
        <p:nvSpPr>
          <p:cNvPr id="10" name="Text 8"/>
          <p:cNvSpPr/>
          <p:nvPr/>
        </p:nvSpPr>
        <p:spPr>
          <a:xfrm>
            <a:off x="777240" y="2244852"/>
            <a:ext cx="8778240" cy="256032"/>
          </a:xfrm>
          <a:prstGeom prst="rect">
            <a:avLst/>
          </a:prstGeom>
          <a:noFill/>
        </p:spPr>
        <p:txBody>
          <a:bodyPr wrap="square" lIns="0" tIns="0" rIns="0" bIns="0" rtlCol="0" anchor="ctr">
            <a:normAutofit/>
          </a:bodyPr>
          <a:lstStyle/>
          <a:p>
            <a:pPr marL="0" indent="0">
              <a:buNone/>
            </a:pPr>
            <a:r>
              <a:rPr lang="en-US" sz="1320" b="1" dirty="0">
                <a:solidFill>
                  <a:srgbClr val="0A0A0A"/>
                </a:solidFill>
                <a:latin typeface="Times New Roman" panose="02020603050405020304" charset="0"/>
                <a:ea typeface="Noto Sans CJK SC" pitchFamily="34" charset="-122"/>
                <a:cs typeface="Times New Roman" panose="02020603050405020304" charset="0"/>
              </a:rPr>
              <a:t>SkillOpt: Executive Strategy for Self-Evolving Agent Skills</a:t>
            </a:r>
            <a:endParaRPr lang="en-US" sz="132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11" name="Text 9"/>
          <p:cNvSpPr/>
          <p:nvPr/>
        </p:nvSpPr>
        <p:spPr>
          <a:xfrm>
            <a:off x="777240" y="2555748"/>
            <a:ext cx="9966960" cy="228600"/>
          </a:xfrm>
          <a:prstGeom prst="rect">
            <a:avLst/>
          </a:prstGeom>
          <a:noFill/>
        </p:spPr>
        <p:txBody>
          <a:bodyPr wrap="square" lIns="0" tIns="0" rIns="0" bIns="0" rtlCol="0" anchor="ctr">
            <a:normAutofit/>
          </a:bodyPr>
          <a:lstStyle/>
          <a:p>
            <a:pPr marL="0" indent="0">
              <a:buNone/>
            </a:pPr>
            <a:r>
              <a:rPr lang="en-US" sz="840" dirty="0">
                <a:solidFill>
                  <a:srgbClr val="6F767D"/>
                </a:solidFill>
                <a:latin typeface="Times New Roman" panose="02020603050405020304" charset="0"/>
                <a:ea typeface="JetBrains Mono" pitchFamily="34" charset="-122"/>
                <a:cs typeface="Times New Roman" panose="02020603050405020304" charset="0"/>
              </a:rPr>
              <a:t>Yang, Gong et al., arXiv:2605.23904, submitted 2026-05-22</a:t>
            </a:r>
            <a:endParaRPr lang="en-US" sz="840"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12" name="Shape 10"/>
          <p:cNvSpPr/>
          <p:nvPr/>
        </p:nvSpPr>
        <p:spPr>
          <a:xfrm>
            <a:off x="777240" y="2903220"/>
            <a:ext cx="10607040" cy="0"/>
          </a:xfrm>
          <a:prstGeom prst="line">
            <a:avLst/>
          </a:prstGeom>
          <a:noFill/>
          <a:ln w="4445">
            <a:solidFill>
              <a:srgbClr val="D6D9DC"/>
            </a:solidFill>
            <a:prstDash val="solid"/>
          </a:ln>
        </p:spPr>
      </p:sp>
      <p:sp>
        <p:nvSpPr>
          <p:cNvPr id="13" name="Text 11"/>
          <p:cNvSpPr/>
          <p:nvPr/>
        </p:nvSpPr>
        <p:spPr>
          <a:xfrm>
            <a:off x="777240" y="3022092"/>
            <a:ext cx="8778240" cy="256032"/>
          </a:xfrm>
          <a:prstGeom prst="rect">
            <a:avLst/>
          </a:prstGeom>
          <a:noFill/>
        </p:spPr>
        <p:txBody>
          <a:bodyPr wrap="square" lIns="0" tIns="0" rIns="0" bIns="0" rtlCol="0" anchor="ctr">
            <a:normAutofit/>
          </a:bodyPr>
          <a:lstStyle/>
          <a:p>
            <a:pPr marL="0" indent="0">
              <a:buNone/>
            </a:pPr>
            <a:r>
              <a:rPr lang="en-US" sz="1320" b="1" dirty="0">
                <a:solidFill>
                  <a:srgbClr val="0A0A0A"/>
                </a:solidFill>
                <a:latin typeface="Times New Roman" panose="02020603050405020304" charset="0"/>
                <a:ea typeface="Noto Sans CJK SC" pitchFamily="34" charset="-122"/>
                <a:cs typeface="Times New Roman" panose="02020603050405020304" charset="0"/>
              </a:rPr>
              <a:t>CaP-X: A Framework for Benchmarking and Improving Coding Agents for Robot Manipulation</a:t>
            </a:r>
            <a:endParaRPr lang="en-US" sz="132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14" name="Text 12"/>
          <p:cNvSpPr/>
          <p:nvPr/>
        </p:nvSpPr>
        <p:spPr>
          <a:xfrm>
            <a:off x="777240" y="3332988"/>
            <a:ext cx="9966960" cy="228600"/>
          </a:xfrm>
          <a:prstGeom prst="rect">
            <a:avLst/>
          </a:prstGeom>
          <a:noFill/>
        </p:spPr>
        <p:txBody>
          <a:bodyPr wrap="square" lIns="0" tIns="0" rIns="0" bIns="0" rtlCol="0" anchor="ctr">
            <a:normAutofit/>
          </a:bodyPr>
          <a:lstStyle/>
          <a:p>
            <a:pPr marL="0" indent="0">
              <a:buNone/>
            </a:pPr>
            <a:r>
              <a:rPr lang="en-US" sz="840" dirty="0">
                <a:solidFill>
                  <a:srgbClr val="6F767D"/>
                </a:solidFill>
                <a:latin typeface="Times New Roman" panose="02020603050405020304" charset="0"/>
                <a:ea typeface="JetBrains Mono" pitchFamily="34" charset="-122"/>
                <a:cs typeface="Times New Roman" panose="02020603050405020304" charset="0"/>
              </a:rPr>
              <a:t>Fu et al., arXiv:2603.22435, submitted 2026-03-23</a:t>
            </a:r>
            <a:endParaRPr lang="en-US" sz="840"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15" name="Shape 13"/>
          <p:cNvSpPr/>
          <p:nvPr/>
        </p:nvSpPr>
        <p:spPr>
          <a:xfrm>
            <a:off x="777240" y="3680460"/>
            <a:ext cx="10607040" cy="0"/>
          </a:xfrm>
          <a:prstGeom prst="line">
            <a:avLst/>
          </a:prstGeom>
          <a:noFill/>
          <a:ln w="4445">
            <a:solidFill>
              <a:srgbClr val="D6D9DC"/>
            </a:solidFill>
            <a:prstDash val="solid"/>
          </a:ln>
        </p:spPr>
      </p:sp>
      <p:sp>
        <p:nvSpPr>
          <p:cNvPr id="16" name="Text 14"/>
          <p:cNvSpPr/>
          <p:nvPr/>
        </p:nvSpPr>
        <p:spPr>
          <a:xfrm>
            <a:off x="777240" y="3799332"/>
            <a:ext cx="8778240" cy="256032"/>
          </a:xfrm>
          <a:prstGeom prst="rect">
            <a:avLst/>
          </a:prstGeom>
          <a:noFill/>
        </p:spPr>
        <p:txBody>
          <a:bodyPr wrap="square" lIns="0" tIns="0" rIns="0" bIns="0" rtlCol="0" anchor="ctr">
            <a:normAutofit/>
          </a:bodyPr>
          <a:lstStyle/>
          <a:p>
            <a:pPr marL="0" indent="0">
              <a:buNone/>
            </a:pPr>
            <a:r>
              <a:rPr lang="en-US" sz="1320" b="1" dirty="0">
                <a:solidFill>
                  <a:srgbClr val="0A0A0A"/>
                </a:solidFill>
                <a:latin typeface="Times New Roman" panose="02020603050405020304" charset="0"/>
                <a:ea typeface="Noto Sans CJK SC" pitchFamily="34" charset="-122"/>
                <a:cs typeface="Times New Roman" panose="02020603050405020304" charset="0"/>
              </a:rPr>
              <a:t>ENPIRE: Agentic Robot Policy Self-Improvement in the Real World</a:t>
            </a:r>
            <a:endParaRPr lang="en-US" sz="132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17" name="Text 15"/>
          <p:cNvSpPr/>
          <p:nvPr/>
        </p:nvSpPr>
        <p:spPr>
          <a:xfrm>
            <a:off x="777240" y="4110228"/>
            <a:ext cx="9966960" cy="228600"/>
          </a:xfrm>
          <a:prstGeom prst="rect">
            <a:avLst/>
          </a:prstGeom>
          <a:noFill/>
        </p:spPr>
        <p:txBody>
          <a:bodyPr wrap="square" lIns="0" tIns="0" rIns="0" bIns="0" rtlCol="0" anchor="ctr">
            <a:normAutofit/>
          </a:bodyPr>
          <a:lstStyle/>
          <a:p>
            <a:pPr marL="0" indent="0">
              <a:buNone/>
            </a:pPr>
            <a:r>
              <a:rPr lang="en-US" sz="840" dirty="0">
                <a:solidFill>
                  <a:srgbClr val="6F767D"/>
                </a:solidFill>
                <a:latin typeface="Times New Roman" panose="02020603050405020304" charset="0"/>
                <a:ea typeface="JetBrains Mono" pitchFamily="34" charset="-122"/>
                <a:cs typeface="Times New Roman" panose="02020603050405020304" charset="0"/>
              </a:rPr>
              <a:t>Xiao et al., arXiv:2606.19980, submitted 2026-06-18</a:t>
            </a:r>
            <a:endParaRPr lang="en-US" sz="840"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18" name="Shape 16"/>
          <p:cNvSpPr/>
          <p:nvPr/>
        </p:nvSpPr>
        <p:spPr>
          <a:xfrm>
            <a:off x="777240" y="4457700"/>
            <a:ext cx="10607040" cy="0"/>
          </a:xfrm>
          <a:prstGeom prst="line">
            <a:avLst/>
          </a:prstGeom>
          <a:noFill/>
          <a:ln w="4445">
            <a:solidFill>
              <a:srgbClr val="D6D9DC"/>
            </a:solidFill>
            <a:prstDash val="solid"/>
          </a:ln>
        </p:spPr>
      </p:sp>
      <p:sp>
        <p:nvSpPr>
          <p:cNvPr id="19" name="Text 17"/>
          <p:cNvSpPr/>
          <p:nvPr/>
        </p:nvSpPr>
        <p:spPr>
          <a:xfrm>
            <a:off x="777240" y="4576572"/>
            <a:ext cx="8778240" cy="256032"/>
          </a:xfrm>
          <a:prstGeom prst="rect">
            <a:avLst/>
          </a:prstGeom>
          <a:noFill/>
        </p:spPr>
        <p:txBody>
          <a:bodyPr wrap="square" lIns="0" tIns="0" rIns="0" bIns="0" rtlCol="0" anchor="ctr">
            <a:normAutofit/>
          </a:bodyPr>
          <a:lstStyle/>
          <a:p>
            <a:pPr marL="0" indent="0">
              <a:buNone/>
            </a:pPr>
            <a:r>
              <a:rPr lang="en-US" sz="1320" b="1" dirty="0">
                <a:solidFill>
                  <a:srgbClr val="0A0A0A"/>
                </a:solidFill>
                <a:latin typeface="Times New Roman" panose="02020603050405020304" charset="0"/>
                <a:ea typeface="Noto Sans CJK SC" pitchFamily="34" charset="-122"/>
                <a:cs typeface="Times New Roman" panose="02020603050405020304" charset="0"/>
              </a:rPr>
              <a:t>ASPIRE: Agentic /Skills Discovery for Robotics</a:t>
            </a:r>
            <a:endParaRPr lang="en-US" sz="132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20" name="Text 18"/>
          <p:cNvSpPr/>
          <p:nvPr/>
        </p:nvSpPr>
        <p:spPr>
          <a:xfrm>
            <a:off x="777240" y="4887468"/>
            <a:ext cx="9966960" cy="228600"/>
          </a:xfrm>
          <a:prstGeom prst="rect">
            <a:avLst/>
          </a:prstGeom>
          <a:noFill/>
        </p:spPr>
        <p:txBody>
          <a:bodyPr wrap="square" lIns="0" tIns="0" rIns="0" bIns="0" rtlCol="0" anchor="ctr">
            <a:normAutofit/>
          </a:bodyPr>
          <a:lstStyle/>
          <a:p>
            <a:pPr marL="0" indent="0">
              <a:buNone/>
            </a:pPr>
            <a:r>
              <a:rPr lang="en-US" sz="840" dirty="0">
                <a:solidFill>
                  <a:srgbClr val="6F767D"/>
                </a:solidFill>
                <a:latin typeface="Times New Roman" panose="02020603050405020304" charset="0"/>
                <a:ea typeface="JetBrains Mono" pitchFamily="34" charset="-122"/>
                <a:cs typeface="Times New Roman" panose="02020603050405020304" charset="0"/>
              </a:rPr>
              <a:t>Lu et al., arXiv:2607.00272, submitted 2026-06-30</a:t>
            </a:r>
            <a:endParaRPr lang="en-US" sz="840"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21" name="Shape 19"/>
          <p:cNvSpPr/>
          <p:nvPr/>
        </p:nvSpPr>
        <p:spPr>
          <a:xfrm>
            <a:off x="777240" y="5234940"/>
            <a:ext cx="10607040" cy="0"/>
          </a:xfrm>
          <a:prstGeom prst="line">
            <a:avLst/>
          </a:prstGeom>
          <a:noFill/>
          <a:ln w="4445">
            <a:solidFill>
              <a:srgbClr val="D6D9DC"/>
            </a:solidFill>
            <a:prstDash val="solid"/>
          </a:ln>
        </p:spPr>
      </p:sp>
      <p:sp>
        <p:nvSpPr>
          <p:cNvPr id="22" name="Text 20"/>
          <p:cNvSpPr/>
          <p:nvPr/>
        </p:nvSpPr>
        <p:spPr>
          <a:xfrm>
            <a:off x="777240" y="5353812"/>
            <a:ext cx="8778240" cy="256032"/>
          </a:xfrm>
          <a:prstGeom prst="rect">
            <a:avLst/>
          </a:prstGeom>
          <a:noFill/>
        </p:spPr>
        <p:txBody>
          <a:bodyPr wrap="square" lIns="0" tIns="0" rIns="0" bIns="0" rtlCol="0" anchor="ctr">
            <a:normAutofit/>
          </a:bodyPr>
          <a:lstStyle/>
          <a:p>
            <a:pPr marL="0" indent="0">
              <a:buNone/>
            </a:pPr>
            <a:r>
              <a:rPr lang="en-US" sz="1320" b="1" dirty="0">
                <a:solidFill>
                  <a:srgbClr val="0A0A0A"/>
                </a:solidFill>
                <a:latin typeface="Times New Roman" panose="02020603050405020304" charset="0"/>
                <a:ea typeface="Noto Sans CJK SC" pitchFamily="34" charset="-122"/>
                <a:cs typeface="Times New Roman" panose="02020603050405020304" charset="0"/>
              </a:rPr>
              <a:t>Uploaded current HTML deck</a:t>
            </a:r>
            <a:endParaRPr lang="en-US" sz="1320" b="1" dirty="0">
              <a:solidFill>
                <a:srgbClr val="0A0A0A"/>
              </a:solidFill>
              <a:latin typeface="Times New Roman" panose="02020603050405020304" charset="0"/>
              <a:ea typeface="Noto Sans CJK SC" pitchFamily="34" charset="-122"/>
              <a:cs typeface="Times New Roman" panose="02020603050405020304" charset="0"/>
            </a:endParaRPr>
          </a:p>
        </p:txBody>
      </p:sp>
      <p:sp>
        <p:nvSpPr>
          <p:cNvPr id="23" name="Text 21"/>
          <p:cNvSpPr/>
          <p:nvPr/>
        </p:nvSpPr>
        <p:spPr>
          <a:xfrm>
            <a:off x="777240" y="5664708"/>
            <a:ext cx="9966960" cy="228600"/>
          </a:xfrm>
          <a:prstGeom prst="rect">
            <a:avLst/>
          </a:prstGeom>
          <a:noFill/>
        </p:spPr>
        <p:txBody>
          <a:bodyPr wrap="square" lIns="0" tIns="0" rIns="0" bIns="0" rtlCol="0" anchor="ctr">
            <a:normAutofit/>
          </a:bodyPr>
          <a:lstStyle/>
          <a:p>
            <a:pPr marL="0" indent="0">
              <a:buNone/>
            </a:pPr>
            <a:r>
              <a:rPr lang="en-US" sz="840" dirty="0">
                <a:solidFill>
                  <a:srgbClr val="6F767D"/>
                </a:solidFill>
                <a:latin typeface="Times New Roman" panose="02020603050405020304" charset="0"/>
                <a:ea typeface="JetBrains Mono" pitchFamily="34" charset="-122"/>
                <a:cs typeface="Times New Roman" panose="02020603050405020304" charset="0"/>
              </a:rPr>
              <a:t>index.html: existing 22-slide deck with SkillOpt, ASPIRE and ENPIRE sections</a:t>
            </a:r>
            <a:endParaRPr lang="en-US" sz="840" dirty="0">
              <a:solidFill>
                <a:srgbClr val="6F767D"/>
              </a:solidFill>
              <a:latin typeface="Times New Roman" panose="02020603050405020304" charset="0"/>
              <a:ea typeface="JetBrains Mono" pitchFamily="34" charset="-122"/>
              <a:cs typeface="Times New Roman" panose="02020603050405020304" charset="0"/>
            </a:endParaRPr>
          </a:p>
        </p:txBody>
      </p:sp>
      <p:sp>
        <p:nvSpPr>
          <p:cNvPr id="24" name="Shape 22"/>
          <p:cNvSpPr/>
          <p:nvPr/>
        </p:nvSpPr>
        <p:spPr>
          <a:xfrm>
            <a:off x="777240" y="6012180"/>
            <a:ext cx="10607040" cy="0"/>
          </a:xfrm>
          <a:prstGeom prst="line">
            <a:avLst/>
          </a:prstGeom>
          <a:noFill/>
          <a:ln w="4445">
            <a:solidFill>
              <a:srgbClr val="D6D9DC"/>
            </a:solidFill>
            <a:prstDash val="solid"/>
          </a:ln>
        </p:spPr>
      </p:sp>
      <p:sp>
        <p:nvSpPr>
          <p:cNvPr id="25" name="Text 23"/>
          <p:cNvSpPr/>
          <p:nvPr/>
        </p:nvSpPr>
        <p:spPr>
          <a:xfrm>
            <a:off x="438912" y="6455664"/>
            <a:ext cx="10424160" cy="201168"/>
          </a:xfrm>
          <a:prstGeom prst="rect">
            <a:avLst/>
          </a:prstGeom>
          <a:noFill/>
        </p:spPr>
        <p:txBody>
          <a:bodyPr wrap="square" lIns="0" tIns="0" rIns="0" bIns="0" rtlCol="0" anchor="ctr"/>
          <a:lstStyle/>
          <a:p>
            <a:pPr marL="0" indent="0">
              <a:buNone/>
            </a:pPr>
            <a:r>
              <a:rPr lang="en-US" sz="670" dirty="0">
                <a:solidFill>
                  <a:srgbClr val="6F767D"/>
                </a:solidFill>
                <a:latin typeface="Times New Roman" panose="02020603050405020304" charset="0"/>
                <a:ea typeface="JetBrains Mono" pitchFamily="34" charset="-122"/>
                <a:cs typeface="Times New Roman" panose="02020603050405020304" charset="0"/>
              </a:rPr>
              <a:t>Use as appendix; citations in speaker notes/handout can be expanded if needed.</a:t>
            </a:r>
            <a:endParaRPr lang="en-US" sz="670" dirty="0">
              <a:solidFill>
                <a:srgbClr val="6F767D"/>
              </a:solidFill>
              <a:latin typeface="Times New Roman" panose="02020603050405020304" charset="0"/>
              <a:ea typeface="JetBrains Mono" pitchFamily="34" charset="-122"/>
              <a:cs typeface="Times New Roman" panose="02020603050405020304" charset="0"/>
            </a:endParaRPr>
          </a:p>
        </p:txBody>
      </p:sp>
    </p:spTree>
  </p:cSld>
  <p:clrMapOvr>
    <a:masterClrMapping/>
  </p:clrMapOvr>
</p:sld>
</file>

<file path=ppt/tags/tag1.xml><?xml version="1.0" encoding="utf-8"?>
<p:tagLst xmlns:p="http://schemas.openxmlformats.org/presentationml/2006/main">
  <p:tag name="KSO_WM_DIAGRAM_VIRTUALLY_FRAME" val="{&quot;height&quot;:61.91999999999998,&quot;left&quot;:54,&quot;top&quot;:378,&quot;width&quot;:766.8}"/>
</p:tagLst>
</file>

<file path=ppt/tags/tag2.xml><?xml version="1.0" encoding="utf-8"?>
<p:tagLst xmlns:p="http://schemas.openxmlformats.org/presentationml/2006/main">
  <p:tag name="KSO_WM_DIAGRAM_VIRTUALLY_FRAME" val="{&quot;height&quot;:61.91999999999998,&quot;left&quot;:54,&quot;top&quot;:378,&quot;width&quot;:766.8}"/>
</p:tagLst>
</file>

<file path=ppt/tags/tag3.xml><?xml version="1.0" encoding="utf-8"?>
<p:tagLst xmlns:p="http://schemas.openxmlformats.org/presentationml/2006/main">
  <p:tag name="KSO_WM_DIAGRAM_VIRTUALLY_FRAME" val="{&quot;height&quot;:61.91999999999998,&quot;left&quot;:54,&quot;top&quot;:378,&quot;width&quot;:766.8}"/>
</p:tagLst>
</file>

<file path=ppt/tags/tag4.xml><?xml version="1.0" encoding="utf-8"?>
<p:tagLst xmlns:p="http://schemas.openxmlformats.org/presentationml/2006/main">
  <p:tag name="KSO_WM_DIAGRAM_VIRTUALLY_FRAME" val="{&quot;height&quot;:61.91999999999998,&quot;left&quot;:54,&quot;top&quot;:378,&quot;width&quot;:766.8}"/>
</p:tagLst>
</file>

<file path=ppt/tags/tag5.xml><?xml version="1.0" encoding="utf-8"?>
<p:tagLst xmlns:p="http://schemas.openxmlformats.org/presentationml/2006/main">
  <p:tag name="KSO_WM_DIAGRAM_VIRTUALLY_FRAME" val="{&quot;height&quot;:61.91999999999998,&quot;left&quot;:54,&quot;top&quot;:378,&quot;width&quot;:766.8}"/>
</p:tagLst>
</file>

<file path=ppt/tags/tag6.xml><?xml version="1.0" encoding="utf-8"?>
<p:tagLst xmlns:p="http://schemas.openxmlformats.org/presentationml/2006/main">
  <p:tag name="KSO_WM_DIAGRAM_VIRTUALLY_FRAME" val="{&quot;height&quot;:61.91999999999998,&quot;left&quot;:54,&quot;top&quot;:378,&quot;width&quot;:766.8}"/>
</p:tagLst>
</file>

<file path=ppt/tags/tag7.xml><?xml version="1.0" encoding="utf-8"?>
<p:tagLst xmlns:p="http://schemas.openxmlformats.org/presentationml/2006/main">
  <p:tag name="KSO_WM_DIAGRAM_VIRTUALLY_FRAME" val="{&quot;height&quot;:61.91999999999998,&quot;left&quot;:54,&quot;top&quot;:378,&quot;width&quot;:766.8}"/>
</p:tagLst>
</file>

<file path=ppt/tags/tag8.xml><?xml version="1.0" encoding="utf-8"?>
<p:tagLst xmlns:p="http://schemas.openxmlformats.org/presentationml/2006/main">
  <p:tag name="KSO_WM_DIAGRAM_VIRTUALLY_FRAME" val="{&quot;height&quot;:61.91999999999998,&quot;left&quot;:54,&quot;top&quot;:378,&quot;width&quot;:766.8}"/>
</p:tagLst>
</file>

<file path=ppt/tags/tag9.xml><?xml version="1.0" encoding="utf-8"?>
<p:tagLst xmlns:p="http://schemas.openxmlformats.org/presentationml/2006/main">
  <p:tag name="KSO_WM_DIAGRAM_VIRTUALLY_FRAME" val="{&quot;height&quot;:61.91999999999998,&quot;left&quot;:54,&quot;top&quot;:378,&quot;width&quot;:766.8}"/>
</p:tagLst>
</file>

<file path=ppt/tags/tag10.xml><?xml version="1.0" encoding="utf-8"?>
<p:tagLst xmlns:p="http://schemas.openxmlformats.org/presentationml/2006/main">
  <p:tag name="KSO_WM_DIAGRAM_VIRTUALLY_FRAME" val="{&quot;height&quot;:61.91999999999998,&quot;left&quot;:54,&quot;top&quot;:378,&quot;width&quot;:766.8}"/>
</p:tagLst>
</file>

<file path=ppt/tags/tag11.xml><?xml version="1.0" encoding="utf-8"?>
<p:tagLst xmlns:p="http://schemas.openxmlformats.org/presentationml/2006/main">
  <p:tag name="KSO_WM_DIAGRAM_VIRTUALLY_FRAME" val="{&quot;height&quot;:61.91999999999998,&quot;left&quot;:54,&quot;top&quot;:378,&quot;width&quot;:766.8}"/>
</p:tagLst>
</file>

<file path=ppt/tags/tag12.xml><?xml version="1.0" encoding="utf-8"?>
<p:tagLst xmlns:p="http://schemas.openxmlformats.org/presentationml/2006/main">
  <p:tag name="KSO_WM_DIAGRAM_VIRTUALLY_FRAME" val="{&quot;height&quot;:61.91999999999998,&quot;left&quot;:54,&quot;top&quot;:378,&quot;width&quot;:766.8}"/>
</p:tagLst>
</file>

<file path=ppt/tags/tag13.xml><?xml version="1.0" encoding="utf-8"?>
<p:tagLst xmlns:p="http://schemas.openxmlformats.org/presentationml/2006/main">
  <p:tag name="KSO_WM_DIAGRAM_VIRTUALLY_FRAME" val="{&quot;height&quot;:61.91999999999998,&quot;left&quot;:54,&quot;top&quot;:378,&quot;width&quot;:766.8}"/>
</p:tagLst>
</file>

<file path=ppt/tags/tag14.xml><?xml version="1.0" encoding="utf-8"?>
<p:tagLst xmlns:p="http://schemas.openxmlformats.org/presentationml/2006/main">
  <p:tag name="KSO_WM_DIAGRAM_VIRTUALLY_FRAME" val="{&quot;height&quot;:61.91999999999998,&quot;left&quot;:54,&quot;top&quot;:378,&quot;width&quot;:766.8}"/>
</p:tagLst>
</file>

<file path=ppt/tags/tag15.xml><?xml version="1.0" encoding="utf-8"?>
<p:tagLst xmlns:p="http://schemas.openxmlformats.org/presentationml/2006/main">
  <p:tag name="KSO_WM_DIAGRAM_VIRTUALLY_FRAME" val="{&quot;height&quot;:61.91999999999998,&quot;left&quot;:54,&quot;top&quot;:378,&quot;width&quot;:766.8}"/>
</p:tagLst>
</file>

<file path=ppt/tags/tag16.xml><?xml version="1.0" encoding="utf-8"?>
<p:tagLst xmlns:p="http://schemas.openxmlformats.org/presentationml/2006/main">
  <p:tag name="KSO_WM_DIAGRAM_VIRTUALLY_FRAME" val="{&quot;height&quot;:61.91999999999998,&quot;left&quot;:54,&quot;top&quot;:378,&quot;width&quot;:766.8}"/>
</p:tagLst>
</file>

<file path=ppt/tags/tag17.xml><?xml version="1.0" encoding="utf-8"?>
<p:tagLst xmlns:p="http://schemas.openxmlformats.org/presentationml/2006/main">
  <p:tag name="KSO_WM_DIAGRAM_VIRTUALLY_FRAME" val="{&quot;height&quot;:61.91999999999998,&quot;left&quot;:54,&quot;top&quot;:378,&quot;width&quot;:766.8}"/>
</p:tagLst>
</file>

<file path=ppt/tags/tag18.xml><?xml version="1.0" encoding="utf-8"?>
<p:tagLst xmlns:p="http://schemas.openxmlformats.org/presentationml/2006/main">
  <p:tag name="KSO_WM_DIAGRAM_VIRTUALLY_FRAME" val="{&quot;height&quot;:61.91999999999998,&quot;left&quot;:54,&quot;top&quot;:378,&quot;width&quot;:766.8}"/>
</p:tagLst>
</file>

<file path=ppt/tags/tag19.xml><?xml version="1.0" encoding="utf-8"?>
<p:tagLst xmlns:p="http://schemas.openxmlformats.org/presentationml/2006/main">
  <p:tag name="KSO_WM_DIAGRAM_VIRTUALLY_FRAME" val="{&quot;height&quot;:61.91999999999998,&quot;left&quot;:54,&quot;top&quot;:378,&quot;width&quot;:766.8}"/>
</p:tagLst>
</file>

<file path=ppt/tags/tag20.xml><?xml version="1.0" encoding="utf-8"?>
<p:tagLst xmlns:p="http://schemas.openxmlformats.org/presentationml/2006/main">
  <p:tag name="commondata" val="eyJoZGlkIjoiNTc1MGU3ZjEwZTRkZGY0NjU5ZDEyOTNiYjAzYTE4MTQ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3614</Words>
  <Application>WPS 演示</Application>
  <PresentationFormat>On-screen Show (16:9)</PresentationFormat>
  <Paragraphs>286</Paragraphs>
  <Slides>25</Slides>
  <Notes>16</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25</vt:i4>
      </vt:variant>
    </vt:vector>
  </HeadingPairs>
  <TitlesOfParts>
    <vt:vector size="45" baseType="lpstr">
      <vt:lpstr>Arial</vt:lpstr>
      <vt:lpstr>宋体</vt:lpstr>
      <vt:lpstr>Wingdings</vt:lpstr>
      <vt:lpstr>Times New Roman</vt:lpstr>
      <vt:lpstr>JetBrains Mono</vt:lpstr>
      <vt:lpstr>苹方-简</vt:lpstr>
      <vt:lpstr>Noto Sans CJK SC</vt:lpstr>
      <vt:lpstr>Noto Sans CJK SC</vt:lpstr>
      <vt:lpstr>微软雅黑</vt:lpstr>
      <vt:lpstr>汉仪旗黑</vt:lpstr>
      <vt:lpstr>宋体</vt:lpstr>
      <vt:lpstr>Arial Unicode MS</vt:lpstr>
      <vt:lpstr>JetBrains Mono</vt:lpstr>
      <vt:lpstr>等线</vt:lpstr>
      <vt:lpstr>汉仪中等线KW</vt:lpstr>
      <vt:lpstr>Apple Color Emoji</vt:lpstr>
      <vt:lpstr>汉仪书宋二KW</vt:lpstr>
      <vt:lpstr>宋体-简</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OpenAI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代码即策略到自进化机器人 Agent</dc:title>
  <dc:creator>OpenAI</dc:creator>
  <dc:subject>Code-as-Policy and Self-Evolving Robot Agents</dc:subject>
  <cp:lastModifiedBy>Cuzyoung</cp:lastModifiedBy>
  <cp:revision>44</cp:revision>
  <dcterms:created xsi:type="dcterms:W3CDTF">2026-07-11T09:00:03Z</dcterms:created>
  <dcterms:modified xsi:type="dcterms:W3CDTF">2026-07-11T09:00:03Z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88D4331CAE704EE3ADAC697334A99BE5_12</vt:lpwstr>
  </property>
  <property fmtid="{D5CDD505-2E9C-101B-9397-08002B2CF9AE}" pid="3" name="KSOProductBuildVer">
    <vt:lpwstr>2052-6.12.1.8902</vt:lpwstr>
  </property>
</Properties>
</file>